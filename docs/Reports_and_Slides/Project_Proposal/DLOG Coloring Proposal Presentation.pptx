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c3739e23e_4_95:notes"/>
          <p:cNvSpPr/>
          <p:nvPr>
            <p:ph idx="2" type="sldImg"/>
          </p:nvPr>
        </p:nvSpPr>
        <p:spPr>
          <a:xfrm>
            <a:off x="398913" y="686112"/>
            <a:ext cx="6060174"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9c3739e23e_4_95:notes"/>
          <p:cNvSpPr txBox="1"/>
          <p:nvPr>
            <p:ph idx="1" type="body"/>
          </p:nvPr>
        </p:nvSpPr>
        <p:spPr>
          <a:xfrm>
            <a:off x="685800" y="4343400"/>
            <a:ext cx="5486400" cy="4114800"/>
          </a:xfrm>
          <a:prstGeom prst="rect">
            <a:avLst/>
          </a:prstGeom>
          <a:noFill/>
          <a:ln>
            <a:noFill/>
          </a:ln>
        </p:spPr>
        <p:txBody>
          <a:bodyPr anchorCtr="0" anchor="t" bIns="45650" lIns="91275" spcFirstLastPara="1" rIns="91275" wrap="square" tIns="45650">
            <a:noAutofit/>
          </a:bodyPr>
          <a:lstStyle/>
          <a:p>
            <a:pPr indent="0" lvl="0" marL="0" rtl="0" algn="l">
              <a:spcBef>
                <a:spcPts val="0"/>
              </a:spcBef>
              <a:spcAft>
                <a:spcPts val="0"/>
              </a:spcAft>
              <a:buNone/>
            </a:pPr>
            <a:r>
              <a:t/>
            </a:r>
            <a:endParaRPr sz="1400"/>
          </a:p>
        </p:txBody>
      </p:sp>
      <p:sp>
        <p:nvSpPr>
          <p:cNvPr id="148" name="Google Shape;148;g39c3739e23e_4_95:notes"/>
          <p:cNvSpPr txBox="1"/>
          <p:nvPr>
            <p:ph idx="12" type="sldNum"/>
          </p:nvPr>
        </p:nvSpPr>
        <p:spPr>
          <a:xfrm>
            <a:off x="3884614" y="8685213"/>
            <a:ext cx="2971800" cy="457200"/>
          </a:xfrm>
          <a:prstGeom prst="rect">
            <a:avLst/>
          </a:prstGeom>
          <a:noFill/>
          <a:ln>
            <a:noFill/>
          </a:ln>
        </p:spPr>
        <p:txBody>
          <a:bodyPr anchorCtr="0" anchor="b" bIns="45650" lIns="91275" spcFirstLastPara="1" rIns="91275" wrap="square" tIns="45650">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c3739e23e_4_102:notes"/>
          <p:cNvSpPr/>
          <p:nvPr>
            <p:ph idx="2" type="sldImg"/>
          </p:nvPr>
        </p:nvSpPr>
        <p:spPr>
          <a:xfrm>
            <a:off x="398913" y="686112"/>
            <a:ext cx="6060174"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9c3739e23e_4_102:notes"/>
          <p:cNvSpPr txBox="1"/>
          <p:nvPr>
            <p:ph idx="1" type="body"/>
          </p:nvPr>
        </p:nvSpPr>
        <p:spPr>
          <a:xfrm>
            <a:off x="685800" y="4343400"/>
            <a:ext cx="5486400" cy="4114800"/>
          </a:xfrm>
          <a:prstGeom prst="rect">
            <a:avLst/>
          </a:prstGeom>
          <a:noFill/>
          <a:ln>
            <a:noFill/>
          </a:ln>
        </p:spPr>
        <p:txBody>
          <a:bodyPr anchorCtr="0" anchor="t" bIns="45650" lIns="91275" spcFirstLastPara="1" rIns="91275" wrap="square" tIns="45650">
            <a:noAutofit/>
          </a:bodyPr>
          <a:lstStyle/>
          <a:p>
            <a:pPr indent="0" lvl="0" marL="0" rtl="0" algn="l">
              <a:spcBef>
                <a:spcPts val="0"/>
              </a:spcBef>
              <a:spcAft>
                <a:spcPts val="0"/>
              </a:spcAft>
              <a:buNone/>
            </a:pPr>
            <a:r>
              <a:t/>
            </a:r>
            <a:endParaRPr sz="1400"/>
          </a:p>
        </p:txBody>
      </p:sp>
      <p:sp>
        <p:nvSpPr>
          <p:cNvPr id="156" name="Google Shape;156;g39c3739e23e_4_102:notes"/>
          <p:cNvSpPr txBox="1"/>
          <p:nvPr>
            <p:ph idx="12" type="sldNum"/>
          </p:nvPr>
        </p:nvSpPr>
        <p:spPr>
          <a:xfrm>
            <a:off x="3884614" y="8685213"/>
            <a:ext cx="2971800" cy="457200"/>
          </a:xfrm>
          <a:prstGeom prst="rect">
            <a:avLst/>
          </a:prstGeom>
          <a:noFill/>
          <a:ln>
            <a:noFill/>
          </a:ln>
        </p:spPr>
        <p:txBody>
          <a:bodyPr anchorCtr="0" anchor="b" bIns="45650" lIns="91275" spcFirstLastPara="1" rIns="91275" wrap="square" tIns="45650">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c3739e23e_2_2:notes"/>
          <p:cNvSpPr/>
          <p:nvPr>
            <p:ph idx="2" type="sldImg"/>
          </p:nvPr>
        </p:nvSpPr>
        <p:spPr>
          <a:xfrm>
            <a:off x="398913" y="686112"/>
            <a:ext cx="6060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9c3739e23e_2_2:notes"/>
          <p:cNvSpPr txBox="1"/>
          <p:nvPr>
            <p:ph idx="1" type="body"/>
          </p:nvPr>
        </p:nvSpPr>
        <p:spPr>
          <a:xfrm>
            <a:off x="685800" y="4343400"/>
            <a:ext cx="5486400" cy="4114800"/>
          </a:xfrm>
          <a:prstGeom prst="rect">
            <a:avLst/>
          </a:prstGeom>
          <a:noFill/>
          <a:ln>
            <a:noFill/>
          </a:ln>
        </p:spPr>
        <p:txBody>
          <a:bodyPr anchorCtr="0" anchor="t" bIns="45650" lIns="91275" spcFirstLastPara="1" rIns="91275" wrap="square" tIns="45650">
            <a:noAutofit/>
          </a:bodyPr>
          <a:lstStyle/>
          <a:p>
            <a:pPr indent="0" lvl="0" marL="0" rtl="0" algn="l">
              <a:spcBef>
                <a:spcPts val="0"/>
              </a:spcBef>
              <a:spcAft>
                <a:spcPts val="0"/>
              </a:spcAft>
              <a:buClr>
                <a:schemeClr val="dk1"/>
              </a:buClr>
              <a:buSzPts val="1100"/>
              <a:buFont typeface="Arial"/>
              <a:buNone/>
            </a:pPr>
            <a:r>
              <a:rPr lang="en" sz="1400"/>
              <a:t>What is graph coloring?</a:t>
            </a:r>
            <a:br>
              <a:rPr lang="en" sz="1400"/>
            </a:br>
            <a:r>
              <a:rPr lang="en" sz="1400"/>
              <a:t>Graph coloring is one of the fundamental problems in computer science and optimization.</a:t>
            </a:r>
            <a:endParaRPr sz="1400"/>
          </a:p>
          <a:p>
            <a:pPr indent="0" lvl="0" marL="0" rtl="0" algn="l">
              <a:spcBef>
                <a:spcPts val="0"/>
              </a:spcBef>
              <a:spcAft>
                <a:spcPts val="0"/>
              </a:spcAft>
              <a:buClr>
                <a:schemeClr val="dk1"/>
              </a:buClr>
              <a:buSzPts val="1100"/>
              <a:buFont typeface="Arial"/>
              <a:buNone/>
            </a:pPr>
            <a:r>
              <a:rPr lang="en" sz="1400"/>
              <a:t>The idea is simple: we assign colors to nodes so that no two connected nodes share the same color.</a:t>
            </a:r>
            <a:endParaRPr sz="1400"/>
          </a:p>
          <a:p>
            <a:pPr indent="0" lvl="0" marL="0" rtl="0" algn="l">
              <a:spcBef>
                <a:spcPts val="0"/>
              </a:spcBef>
              <a:spcAft>
                <a:spcPts val="0"/>
              </a:spcAft>
              <a:buClr>
                <a:schemeClr val="dk1"/>
              </a:buClr>
              <a:buSzPts val="1100"/>
              <a:buFont typeface="Arial"/>
              <a:buNone/>
            </a:pPr>
            <a:r>
              <a:rPr lang="en" sz="1400"/>
              <a:t>But finding the minimum number of colors is actually NP-hard, which means it quickly becomes computationally infeasible for large graphs.</a:t>
            </a:r>
            <a:endParaRPr sz="1400"/>
          </a:p>
          <a:p>
            <a:pPr indent="0" lvl="0" marL="0" rtl="0" algn="l">
              <a:spcBef>
                <a:spcPts val="0"/>
              </a:spcBef>
              <a:spcAft>
                <a:spcPts val="0"/>
              </a:spcAft>
              <a:buClr>
                <a:schemeClr val="dk1"/>
              </a:buClr>
              <a:buSzPts val="1100"/>
              <a:buFont typeface="Arial"/>
              <a:buNone/>
            </a:pPr>
            <a:r>
              <a:rPr lang="en" sz="1400"/>
              <a:t>Despite its simplicity, graph coloring has many practical applications—from compiler design and scheduling to network frequency assignment.</a:t>
            </a:r>
            <a:endParaRPr sz="1400"/>
          </a:p>
          <a:p>
            <a:pPr indent="0" lvl="0" marL="0" rtl="0" algn="l">
              <a:spcBef>
                <a:spcPts val="0"/>
              </a:spcBef>
              <a:spcAft>
                <a:spcPts val="0"/>
              </a:spcAft>
              <a:buNone/>
            </a:pPr>
            <a:r>
              <a:rPr lang="en" sz="1400"/>
              <a:t>So understanding how to color graphs efficiently is still a very active area of research.</a:t>
            </a:r>
            <a:endParaRPr sz="1400"/>
          </a:p>
        </p:txBody>
      </p:sp>
      <p:sp>
        <p:nvSpPr>
          <p:cNvPr id="163" name="Google Shape;163;g39c3739e23e_2_2:notes"/>
          <p:cNvSpPr txBox="1"/>
          <p:nvPr>
            <p:ph idx="12" type="sldNum"/>
          </p:nvPr>
        </p:nvSpPr>
        <p:spPr>
          <a:xfrm>
            <a:off x="3884614" y="8685213"/>
            <a:ext cx="2971800" cy="457200"/>
          </a:xfrm>
          <a:prstGeom prst="rect">
            <a:avLst/>
          </a:prstGeom>
          <a:noFill/>
          <a:ln>
            <a:noFill/>
          </a:ln>
        </p:spPr>
        <p:txBody>
          <a:bodyPr anchorCtr="0" anchor="b" bIns="45650" lIns="91275" spcFirstLastPara="1" rIns="91275" wrap="square" tIns="45650">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c3739e23e_2_9:notes"/>
          <p:cNvSpPr/>
          <p:nvPr>
            <p:ph idx="2" type="sldImg"/>
          </p:nvPr>
        </p:nvSpPr>
        <p:spPr>
          <a:xfrm>
            <a:off x="398913" y="686112"/>
            <a:ext cx="6060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9c3739e23e_2_9:notes"/>
          <p:cNvSpPr txBox="1"/>
          <p:nvPr>
            <p:ph idx="1" type="body"/>
          </p:nvPr>
        </p:nvSpPr>
        <p:spPr>
          <a:xfrm>
            <a:off x="685800" y="4343400"/>
            <a:ext cx="5486400" cy="4114800"/>
          </a:xfrm>
          <a:prstGeom prst="rect">
            <a:avLst/>
          </a:prstGeom>
          <a:noFill/>
          <a:ln>
            <a:noFill/>
          </a:ln>
        </p:spPr>
        <p:txBody>
          <a:bodyPr anchorCtr="0" anchor="t" bIns="45650" lIns="91275" spcFirstLastPara="1" rIns="91275" wrap="square" tIns="45650">
            <a:noAutofit/>
          </a:bodyPr>
          <a:lstStyle/>
          <a:p>
            <a:pPr indent="0" lvl="0" marL="0" rtl="0" algn="l">
              <a:spcBef>
                <a:spcPts val="0"/>
              </a:spcBef>
              <a:spcAft>
                <a:spcPts val="0"/>
              </a:spcAft>
              <a:buClr>
                <a:schemeClr val="dk1"/>
              </a:buClr>
              <a:buSzPts val="1100"/>
              <a:buFont typeface="Arial"/>
              <a:buNone/>
            </a:pPr>
            <a:r>
              <a:rPr lang="en" sz="1400">
                <a:solidFill>
                  <a:schemeClr val="dk1"/>
                </a:solidFill>
              </a:rPr>
              <a:t>This is where graph coloring shows up in real systems — in compilers.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During code compilation, each variable in the program must be stored in a processor register when it’s active.</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Two variables that are live at the same time interfere with each other, so they can’t share a register.</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We can represent this relationship with an </a:t>
            </a:r>
            <a:r>
              <a:rPr i="1" lang="en" sz="1400">
                <a:solidFill>
                  <a:schemeClr val="dk1"/>
                </a:solidFill>
              </a:rPr>
              <a:t>interference graph</a:t>
            </a:r>
            <a:r>
              <a:rPr lang="en" sz="1400">
                <a:solidFill>
                  <a:schemeClr val="dk1"/>
                </a:solidFill>
              </a:rPr>
              <a:t> — where edges show conflicts.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Then, we color this graph so that no two connected nodes share the same color, and each color corresponds to a CPU register.</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If we run out of colors, some variables get spilled to memory, which slows down performance.</a:t>
            </a:r>
            <a:endParaRPr sz="1400">
              <a:solidFill>
                <a:schemeClr val="dk1"/>
              </a:solidFill>
            </a:endParaRPr>
          </a:p>
          <a:p>
            <a:pPr indent="0" lvl="0" marL="0" rtl="0" algn="l">
              <a:spcBef>
                <a:spcPts val="0"/>
              </a:spcBef>
              <a:spcAft>
                <a:spcPts val="0"/>
              </a:spcAft>
              <a:buNone/>
            </a:pPr>
            <a:r>
              <a:rPr lang="en" sz="1400">
                <a:solidFill>
                  <a:schemeClr val="dk1"/>
                </a:solidFill>
              </a:rPr>
              <a:t>So an efficient coloring means faster compiled code.</a:t>
            </a:r>
            <a:endParaRPr sz="1400">
              <a:solidFill>
                <a:schemeClr val="dk1"/>
              </a:solidFill>
            </a:endParaRPr>
          </a:p>
          <a:p>
            <a:pPr indent="0" lvl="0" marL="0" rtl="0" algn="l">
              <a:spcBef>
                <a:spcPts val="0"/>
              </a:spcBef>
              <a:spcAft>
                <a:spcPts val="0"/>
              </a:spcAft>
              <a:buNone/>
            </a:pPr>
            <a:r>
              <a:rPr lang="en" sz="1400">
                <a:solidFill>
                  <a:schemeClr val="dk1"/>
                </a:solidFill>
              </a:rPr>
              <a:t>In other words, if we have an arbitrary code to compile and some CPU </a:t>
            </a:r>
            <a:r>
              <a:rPr lang="en" sz="1400">
                <a:solidFill>
                  <a:schemeClr val="dk1"/>
                </a:solidFill>
              </a:rPr>
              <a:t>architecture</a:t>
            </a:r>
            <a:r>
              <a:rPr lang="en" sz="1400">
                <a:solidFill>
                  <a:schemeClr val="dk1"/>
                </a:solidFill>
              </a:rPr>
              <a:t> with K registers, can the code’s active variables fit into it’s </a:t>
            </a:r>
            <a:r>
              <a:rPr lang="en" sz="1400">
                <a:solidFill>
                  <a:schemeClr val="dk1"/>
                </a:solidFill>
              </a:rPr>
              <a:t>available</a:t>
            </a:r>
            <a:r>
              <a:rPr lang="en" sz="1400">
                <a:solidFill>
                  <a:schemeClr val="dk1"/>
                </a:solidFill>
              </a:rPr>
              <a:t> registers </a:t>
            </a:r>
            <a:endParaRPr sz="1400">
              <a:solidFill>
                <a:schemeClr val="dk1"/>
              </a:solidFill>
            </a:endParaRPr>
          </a:p>
        </p:txBody>
      </p:sp>
      <p:sp>
        <p:nvSpPr>
          <p:cNvPr id="171" name="Google Shape;171;g39c3739e23e_2_9:notes"/>
          <p:cNvSpPr txBox="1"/>
          <p:nvPr>
            <p:ph idx="12" type="sldNum"/>
          </p:nvPr>
        </p:nvSpPr>
        <p:spPr>
          <a:xfrm>
            <a:off x="3884614" y="8685213"/>
            <a:ext cx="2971800" cy="457200"/>
          </a:xfrm>
          <a:prstGeom prst="rect">
            <a:avLst/>
          </a:prstGeom>
          <a:noFill/>
          <a:ln>
            <a:noFill/>
          </a:ln>
        </p:spPr>
        <p:txBody>
          <a:bodyPr anchorCtr="0" anchor="b" bIns="45650" lIns="91275" spcFirstLastPara="1" rIns="91275" wrap="square" tIns="45650">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c48014639_0_3:notes"/>
          <p:cNvSpPr/>
          <p:nvPr>
            <p:ph idx="2" type="sldImg"/>
          </p:nvPr>
        </p:nvSpPr>
        <p:spPr>
          <a:xfrm>
            <a:off x="398913" y="686112"/>
            <a:ext cx="6060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9c48014639_0_3:notes"/>
          <p:cNvSpPr txBox="1"/>
          <p:nvPr>
            <p:ph idx="1" type="body"/>
          </p:nvPr>
        </p:nvSpPr>
        <p:spPr>
          <a:xfrm>
            <a:off x="685800" y="4343400"/>
            <a:ext cx="5486400" cy="4114800"/>
          </a:xfrm>
          <a:prstGeom prst="rect">
            <a:avLst/>
          </a:prstGeom>
          <a:noFill/>
          <a:ln>
            <a:noFill/>
          </a:ln>
        </p:spPr>
        <p:txBody>
          <a:bodyPr anchorCtr="0" anchor="t" bIns="45650" lIns="91275" spcFirstLastPara="1" rIns="91275" wrap="square" tIns="45650">
            <a:noAutofit/>
          </a:bodyPr>
          <a:lstStyle/>
          <a:p>
            <a:pPr indent="0" lvl="0" marL="0" rtl="0" algn="l">
              <a:spcBef>
                <a:spcPts val="0"/>
              </a:spcBef>
              <a:spcAft>
                <a:spcPts val="0"/>
              </a:spcAft>
              <a:buClr>
                <a:schemeClr val="dk1"/>
              </a:buClr>
              <a:buSzPts val="1100"/>
              <a:buFont typeface="Arial"/>
              <a:buNone/>
            </a:pPr>
            <a:r>
              <a:rPr lang="en" sz="1400"/>
              <a:t>Our experiment is essentially a meta-study — meaning we’re not inventing a new algorithm, but rather evaluating existing ones.</a:t>
            </a:r>
            <a:endParaRPr sz="1400"/>
          </a:p>
          <a:p>
            <a:pPr indent="0" lvl="0" marL="0" rtl="0" algn="l">
              <a:spcBef>
                <a:spcPts val="0"/>
              </a:spcBef>
              <a:spcAft>
                <a:spcPts val="0"/>
              </a:spcAft>
              <a:buClr>
                <a:schemeClr val="dk1"/>
              </a:buClr>
              <a:buSzPts val="1100"/>
              <a:buFont typeface="Arial"/>
              <a:buNone/>
            </a:pPr>
            <a:r>
              <a:rPr lang="en" sz="1400"/>
              <a:t>We’ll start by comparing traditional graph coloring heuristics, like Greedy and D-SATUR, and measure their execution times and solution quality.</a:t>
            </a:r>
            <a:endParaRPr sz="1400"/>
          </a:p>
          <a:p>
            <a:pPr indent="0" lvl="0" marL="0" rtl="0" algn="l">
              <a:spcBef>
                <a:spcPts val="0"/>
              </a:spcBef>
              <a:spcAft>
                <a:spcPts val="0"/>
              </a:spcAft>
              <a:buClr>
                <a:schemeClr val="dk1"/>
              </a:buClr>
              <a:buSzPts val="1100"/>
              <a:buFont typeface="Arial"/>
              <a:buNone/>
            </a:pPr>
            <a:r>
              <a:rPr lang="en" sz="1400"/>
              <a:t>Then, we’ll explore recent machine learning approaches — particularly Graph Neural Networks and Graph Transformers.</a:t>
            </a:r>
            <a:endParaRPr sz="1400"/>
          </a:p>
          <a:p>
            <a:pPr indent="0" lvl="0" marL="0" rtl="0" algn="l">
              <a:spcBef>
                <a:spcPts val="0"/>
              </a:spcBef>
              <a:spcAft>
                <a:spcPts val="0"/>
              </a:spcAft>
              <a:buClr>
                <a:schemeClr val="dk1"/>
              </a:buClr>
              <a:buSzPts val="1100"/>
              <a:buFont typeface="Arial"/>
              <a:buNone/>
            </a:pPr>
            <a:r>
              <a:rPr lang="en" sz="1400"/>
              <a:t>The question we want to answer is: can a neural network learn enough structure from graphs to produce better or faster colorings than classical methods?</a:t>
            </a:r>
            <a:endParaRPr sz="1400"/>
          </a:p>
          <a:p>
            <a:pPr indent="0" lvl="0" marL="0" rtl="0" algn="l">
              <a:spcBef>
                <a:spcPts val="0"/>
              </a:spcBef>
              <a:spcAft>
                <a:spcPts val="0"/>
              </a:spcAft>
              <a:buNone/>
            </a:pPr>
            <a:r>
              <a:rPr lang="en" sz="1400"/>
              <a:t>Ultimately, the goal is to understand whether ML-based models can generalize to unseen graphs and provide a real advantage in practice.</a:t>
            </a:r>
            <a:endParaRPr sz="1400"/>
          </a:p>
        </p:txBody>
      </p:sp>
      <p:sp>
        <p:nvSpPr>
          <p:cNvPr id="179" name="Google Shape;179;g39c48014639_0_3:notes"/>
          <p:cNvSpPr txBox="1"/>
          <p:nvPr>
            <p:ph idx="12" type="sldNum"/>
          </p:nvPr>
        </p:nvSpPr>
        <p:spPr>
          <a:xfrm>
            <a:off x="3884614" y="8685213"/>
            <a:ext cx="2971800" cy="457200"/>
          </a:xfrm>
          <a:prstGeom prst="rect">
            <a:avLst/>
          </a:prstGeom>
          <a:noFill/>
          <a:ln>
            <a:noFill/>
          </a:ln>
        </p:spPr>
        <p:txBody>
          <a:bodyPr anchorCtr="0" anchor="b" bIns="45650" lIns="91275" spcFirstLastPara="1" rIns="91275" wrap="square" tIns="45650">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c3739e2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c3739e2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this point in time, we have gathered papers that outline a GNN architecture and an RNN architecture. We have cloned the GNN paper’s repo and recreated their results in a test environment, but have not done the same for the RNN. Additionally, we have access to standard implementations of normal graph coloring algorithms. These generally fall into two categories, either using priorities to determine independent sets of vertices, and coloring accordingly, or serial greedy coloring, which simply iterates through all vertices and assigns each one the lowest color it can.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c3739e23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c3739e23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not all that many chromatic number labeled datasets out there, but Carnegie Mellon University hosts a repository of graphs with corresponding known chromatic numbers. These are an excellent starting point for use as training data, as well as verification of correctness. Additionally, we will introduce graphs generated through two processes, R-MAT recursion, which tends to model connected components in a more realistic way, and Erdos-Renyi, which is much simpler, and just represents random, independent connections between vertices. These graphs will need their chromatic numbers found in order to use as training data. Finally, we plan to develop a generator for the interference graphs mentioned previously from program source files.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c3739e23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9c3739e23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order to measure the effectiveness of a given graph coloring algorithm, two metrics are of importance: execution time, whose benefit is obvious, and coloring quality. Because of the problems NP-hardness, approximations are all that can be reasonably expected as outputs, and as such, the fewer colors needed to produce a graph coloring, the better. Specific to neural network implementations, we need to keep track of training overhead, and factor that into execution time in order to make a holistic determination of effectiveness. Additionally, neural networks can produce incorrect results, and this means that verification of correctness is necessary.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c3739e23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c3739e23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Via our literature review, we have explored what is currently out there, allowing us to focus in on techniques that work. Above is a generalized workflow for deep graph coloring for register allocation. While we wish to reimplement this entire workflow– generating our own data and training our own model– we will also play by ear and revisit our aims at the end of the semester.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c3739e23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c3739e23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remember what the interference graph describes: Neighboring nodes must remain in the active set and therefore must be placed on separate registers (colors)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 j is active the entire time and will likely need a dedicated register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c51e1871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c51e1871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are welcome to move this to background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Using LLVM will allow us to generate our own interference graph dataset. LLVM generates readable intermediate representation files while using static single assignment (generates virtual registers which cannot be reassigned)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simplifies what instructions are overlapping when, and these virtual registers are the nodes in our graph. Any registers that are active in the same instruction receive an edge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Therefore we can use this knowledge to generate interference graphs from instruction datasets.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c51e1871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9c51e1871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completing our immediate aim, we plan on further exploring generated works.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were slightly disappointed in what we found, with some papers even criticizing GNN use in graph coloring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LSTM (a form of RNN) has shown promise ht short-term memory (previous hidden state), ct long-term memory (previous cell state)</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t>xₜ – the input vector at time t. This is the data entering the LSTM at the current step, such as a word embedding or feature vector.</a:t>
            </a:r>
            <a:endParaRPr/>
          </a:p>
          <a:p>
            <a:pPr indent="0" lvl="0" marL="0" rtl="0" algn="l">
              <a:lnSpc>
                <a:spcPct val="115000"/>
              </a:lnSpc>
              <a:spcBef>
                <a:spcPts val="1200"/>
              </a:spcBef>
              <a:spcAft>
                <a:spcPts val="0"/>
              </a:spcAft>
              <a:buClr>
                <a:schemeClr val="dk1"/>
              </a:buClr>
              <a:buSzPts val="1100"/>
              <a:buFont typeface="Arial"/>
              <a:buNone/>
            </a:pPr>
            <a:r>
              <a:rPr lang="en"/>
              <a:t>hₜ₋₁ – the previous hidden state. This represents the short-term memory passed from the previous time step and carries recent contextual information.</a:t>
            </a:r>
            <a:endParaRPr/>
          </a:p>
          <a:p>
            <a:pPr indent="0" lvl="0" marL="0" rtl="0" algn="l">
              <a:lnSpc>
                <a:spcPct val="115000"/>
              </a:lnSpc>
              <a:spcBef>
                <a:spcPts val="1200"/>
              </a:spcBef>
              <a:spcAft>
                <a:spcPts val="0"/>
              </a:spcAft>
              <a:buClr>
                <a:schemeClr val="dk1"/>
              </a:buClr>
              <a:buSzPts val="1100"/>
              <a:buFont typeface="Arial"/>
              <a:buNone/>
            </a:pPr>
            <a:r>
              <a:rPr lang="en"/>
              <a:t>Cₜ₋₁ – the previous cell state. This is the long-term memory that persists across many time steps, allowing the LSTM to remember older information.</a:t>
            </a:r>
            <a:endParaRPr/>
          </a:p>
          <a:p>
            <a:pPr indent="0" lvl="0" marL="0" rtl="0" algn="l">
              <a:lnSpc>
                <a:spcPct val="115000"/>
              </a:lnSpc>
              <a:spcBef>
                <a:spcPts val="1200"/>
              </a:spcBef>
              <a:spcAft>
                <a:spcPts val="0"/>
              </a:spcAft>
              <a:buClr>
                <a:schemeClr val="dk1"/>
              </a:buClr>
              <a:buSzPts val="1100"/>
              <a:buFont typeface="Arial"/>
              <a:buNone/>
            </a:pPr>
            <a:r>
              <a:rPr lang="en"/>
              <a:t>fₜ – the forget gate. This gate decides how much of the old cell state (Cₜ₋₁) should be kept or forgotten.</a:t>
            </a:r>
            <a:endParaRPr/>
          </a:p>
          <a:p>
            <a:pPr indent="0" lvl="0" marL="0" rtl="0" algn="l">
              <a:lnSpc>
                <a:spcPct val="115000"/>
              </a:lnSpc>
              <a:spcBef>
                <a:spcPts val="1200"/>
              </a:spcBef>
              <a:spcAft>
                <a:spcPts val="0"/>
              </a:spcAft>
              <a:buClr>
                <a:schemeClr val="dk1"/>
              </a:buClr>
              <a:buSzPts val="1100"/>
              <a:buFont typeface="Arial"/>
              <a:buNone/>
            </a:pPr>
            <a:r>
              <a:rPr lang="en"/>
              <a:t>iₜ – the input gate. This determines how much new information should be written into the cell state.</a:t>
            </a:r>
            <a:endParaRPr/>
          </a:p>
          <a:p>
            <a:pPr indent="0" lvl="0" marL="0" rtl="0" algn="l">
              <a:lnSpc>
                <a:spcPct val="115000"/>
              </a:lnSpc>
              <a:spcBef>
                <a:spcPts val="1200"/>
              </a:spcBef>
              <a:spcAft>
                <a:spcPts val="0"/>
              </a:spcAft>
              <a:buClr>
                <a:schemeClr val="dk1"/>
              </a:buClr>
              <a:buSzPts val="1100"/>
              <a:buFont typeface="Arial"/>
              <a:buNone/>
            </a:pPr>
            <a:r>
              <a:rPr lang="en"/>
              <a:t>C̃ₜ – the candidate cell content. This is the new candidate information proposed to be added to the memory, typically passed through a tanh activation.</a:t>
            </a:r>
            <a:endParaRPr/>
          </a:p>
          <a:p>
            <a:pPr indent="0" lvl="0" marL="0" rtl="0" algn="l">
              <a:lnSpc>
                <a:spcPct val="115000"/>
              </a:lnSpc>
              <a:spcBef>
                <a:spcPts val="1200"/>
              </a:spcBef>
              <a:spcAft>
                <a:spcPts val="0"/>
              </a:spcAft>
              <a:buClr>
                <a:schemeClr val="dk1"/>
              </a:buClr>
              <a:buSzPts val="1100"/>
              <a:buFont typeface="Arial"/>
              <a:buNone/>
            </a:pPr>
            <a:r>
              <a:rPr lang="en"/>
              <a:t>Cₜ – the updated cell state. This combines the retained old memory and the new candidate input to form the new “memory” of the network.</a:t>
            </a:r>
            <a:endParaRPr/>
          </a:p>
          <a:p>
            <a:pPr indent="0" lvl="0" marL="0" rtl="0" algn="l">
              <a:lnSpc>
                <a:spcPct val="115000"/>
              </a:lnSpc>
              <a:spcBef>
                <a:spcPts val="1200"/>
              </a:spcBef>
              <a:spcAft>
                <a:spcPts val="0"/>
              </a:spcAft>
              <a:buClr>
                <a:schemeClr val="dk1"/>
              </a:buClr>
              <a:buSzPts val="1100"/>
              <a:buFont typeface="Arial"/>
              <a:buNone/>
            </a:pPr>
            <a:r>
              <a:rPr lang="en"/>
              <a:t>oₜ – the output gate. This gate controls how much of the cell state’s information should be visible as the output for this time step.</a:t>
            </a:r>
            <a:endParaRPr/>
          </a:p>
          <a:p>
            <a:pPr indent="0" lvl="0" marL="0" rtl="0" algn="l">
              <a:lnSpc>
                <a:spcPct val="115000"/>
              </a:lnSpc>
              <a:spcBef>
                <a:spcPts val="1200"/>
              </a:spcBef>
              <a:spcAft>
                <a:spcPts val="0"/>
              </a:spcAft>
              <a:buClr>
                <a:schemeClr val="dk1"/>
              </a:buClr>
              <a:buSzPts val="1100"/>
              <a:buFont typeface="Arial"/>
              <a:buNone/>
            </a:pPr>
            <a:r>
              <a:rPr lang="en"/>
              <a:t>hₜ – the new hidden state. This is both the current output and the short-term memory passed to the next time step or next layer.</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1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Bullets">
  <p:cSld name="Content w/Bullets">
    <p:spTree>
      <p:nvGrpSpPr>
        <p:cNvPr id="51" name="Shape 51"/>
        <p:cNvGrpSpPr/>
        <p:nvPr/>
      </p:nvGrpSpPr>
      <p:grpSpPr>
        <a:xfrm>
          <a:off x="0" y="0"/>
          <a:ext cx="0" cy="0"/>
          <a:chOff x="0" y="0"/>
          <a:chExt cx="0" cy="0"/>
        </a:xfrm>
      </p:grpSpPr>
      <p:sp>
        <p:nvSpPr>
          <p:cNvPr id="52" name="Google Shape;52;p14"/>
          <p:cNvSpPr txBox="1"/>
          <p:nvPr>
            <p:ph idx="1" type="body"/>
          </p:nvPr>
        </p:nvSpPr>
        <p:spPr>
          <a:xfrm>
            <a:off x="224416" y="778091"/>
            <a:ext cx="6257925" cy="1371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D6001C"/>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D6001C"/>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3" name="Google Shape;53;p14"/>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4" name="Google Shape;54;p14"/>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55" name="Google Shape;55;p14"/>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56" name="Google Shape;56;p14"/>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57" name="Google Shape;57;p14"/>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58" name="Google Shape;58;p14"/>
          <p:cNvSpPr txBox="1"/>
          <p:nvPr>
            <p:ph idx="2"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rgbClr val="DB091C"/>
              </a:buClr>
              <a:buSzPts val="1800"/>
              <a:buFont typeface="Noto Sans Symbols"/>
              <a:buChar char="▪"/>
              <a:defRPr b="0" i="0" sz="1800" u="none" cap="none" strike="noStrike">
                <a:solidFill>
                  <a:schemeClr val="dk1"/>
                </a:solidFill>
                <a:latin typeface="Arial"/>
                <a:ea typeface="Arial"/>
                <a:cs typeface="Arial"/>
                <a:sym typeface="Arial"/>
              </a:defRPr>
            </a:lvl2pPr>
            <a:lvl3pPr indent="-317500" lvl="2" marL="1371600" marR="0" rtl="0" algn="l">
              <a:spcBef>
                <a:spcPts val="600"/>
              </a:spcBef>
              <a:spcAft>
                <a:spcPts val="0"/>
              </a:spcAft>
              <a:buClr>
                <a:srgbClr val="DB091C"/>
              </a:buClr>
              <a:buSzPts val="1400"/>
              <a:buFont typeface="Arial"/>
              <a:buChar char="−"/>
              <a:defRPr b="0" i="0" sz="1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59" name="Google Shape;59;p14"/>
          <p:cNvCxnSpPr/>
          <p:nvPr/>
        </p:nvCxnSpPr>
        <p:spPr>
          <a:xfrm>
            <a:off x="0" y="596897"/>
            <a:ext cx="9144000" cy="0"/>
          </a:xfrm>
          <a:prstGeom prst="straightConnector1">
            <a:avLst/>
          </a:prstGeom>
          <a:noFill/>
          <a:ln cap="flat" cmpd="sng" w="9525">
            <a:solidFill>
              <a:srgbClr val="D6001C"/>
            </a:solidFill>
            <a:prstDash val="solid"/>
            <a:round/>
            <a:headEnd len="sm" w="sm" type="none"/>
            <a:tailEnd len="sm" w="sm" type="none"/>
          </a:ln>
        </p:spPr>
      </p:cxnSp>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612">
          <p15:clr>
            <a:srgbClr val="FBAE40"/>
          </p15:clr>
        </p15:guide>
        <p15:guide id="4" pos="1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 name="Shape 60"/>
        <p:cNvGrpSpPr/>
        <p:nvPr/>
      </p:nvGrpSpPr>
      <p:grpSpPr>
        <a:xfrm>
          <a:off x="0" y="0"/>
          <a:ext cx="0" cy="0"/>
          <a:chOff x="0" y="0"/>
          <a:chExt cx="0" cy="0"/>
        </a:xfrm>
      </p:grpSpPr>
      <p:sp>
        <p:nvSpPr>
          <p:cNvPr id="61" name="Google Shape;61;p15"/>
          <p:cNvSpPr/>
          <p:nvPr/>
        </p:nvSpPr>
        <p:spPr>
          <a:xfrm>
            <a:off x="-1" y="0"/>
            <a:ext cx="9144001" cy="5143500"/>
          </a:xfrm>
          <a:prstGeom prst="rect">
            <a:avLst/>
          </a:prstGeom>
          <a:solidFill>
            <a:srgbClr val="5458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2" name="Google Shape;62;p15"/>
          <p:cNvPicPr preferRelativeResize="0"/>
          <p:nvPr/>
        </p:nvPicPr>
        <p:blipFill rotWithShape="1">
          <a:blip r:embed="rId2">
            <a:alphaModFix/>
          </a:blip>
          <a:srcRect b="0" l="0" r="6662" t="0"/>
          <a:stretch/>
        </p:blipFill>
        <p:spPr>
          <a:xfrm>
            <a:off x="-1" y="0"/>
            <a:ext cx="9144000" cy="5143499"/>
          </a:xfrm>
          <a:prstGeom prst="rect">
            <a:avLst/>
          </a:prstGeom>
          <a:noFill/>
          <a:ln>
            <a:noFill/>
          </a:ln>
        </p:spPr>
      </p:pic>
      <p:sp>
        <p:nvSpPr>
          <p:cNvPr id="63" name="Google Shape;63;p15"/>
          <p:cNvSpPr txBox="1"/>
          <p:nvPr>
            <p:ph type="ctrTitle"/>
          </p:nvPr>
        </p:nvSpPr>
        <p:spPr>
          <a:xfrm>
            <a:off x="0" y="1057151"/>
            <a:ext cx="9144000" cy="543049"/>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FFFFFF"/>
              </a:buClr>
              <a:buSzPts val="5000"/>
              <a:buFont typeface="Arial"/>
              <a:buNone/>
              <a:defRPr b="1" i="0" sz="50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15"/>
          <p:cNvSpPr txBox="1"/>
          <p:nvPr>
            <p:ph idx="1" type="subTitle"/>
          </p:nvPr>
        </p:nvSpPr>
        <p:spPr>
          <a:xfrm>
            <a:off x="0" y="2603003"/>
            <a:ext cx="9144000" cy="822325"/>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C:\Users\gardel2\Desktop\Brand Approval Reference\Rensselaer Logo Layered Files\RF0010-01 Rensselaer Large Logo\RGB\PNGs\RF0010-01 Rensselaer Large Logo-with Tagline RGB-White.png" id="65" name="Google Shape;65;p15"/>
          <p:cNvPicPr preferRelativeResize="0"/>
          <p:nvPr/>
        </p:nvPicPr>
        <p:blipFill rotWithShape="1">
          <a:blip r:embed="rId3">
            <a:alphaModFix/>
          </a:blip>
          <a:srcRect b="0" l="0" r="0" t="0"/>
          <a:stretch/>
        </p:blipFill>
        <p:spPr>
          <a:xfrm>
            <a:off x="2385343" y="3846553"/>
            <a:ext cx="3296841" cy="8001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66" name="Shape 66"/>
        <p:cNvGrpSpPr/>
        <p:nvPr/>
      </p:nvGrpSpPr>
      <p:grpSpPr>
        <a:xfrm>
          <a:off x="0" y="0"/>
          <a:ext cx="0" cy="0"/>
          <a:chOff x="0" y="0"/>
          <a:chExt cx="0" cy="0"/>
        </a:xfrm>
      </p:grpSpPr>
      <p:sp>
        <p:nvSpPr>
          <p:cNvPr id="67" name="Google Shape;67;p16"/>
          <p:cNvSpPr/>
          <p:nvPr/>
        </p:nvSpPr>
        <p:spPr>
          <a:xfrm>
            <a:off x="0" y="2371988"/>
            <a:ext cx="9144000" cy="2782206"/>
          </a:xfrm>
          <a:prstGeom prst="rect">
            <a:avLst/>
          </a:prstGeom>
          <a:solidFill>
            <a:srgbClr val="D600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8" name="Google Shape;68;p16"/>
          <p:cNvSpPr txBox="1"/>
          <p:nvPr>
            <p:ph type="ctrTitle"/>
          </p:nvPr>
        </p:nvSpPr>
        <p:spPr>
          <a:xfrm>
            <a:off x="216321" y="2857479"/>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4800"/>
              <a:buFont typeface="Arial"/>
              <a:buNone/>
              <a:defRPr b="1" i="0" sz="48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16"/>
          <p:cNvSpPr txBox="1"/>
          <p:nvPr>
            <p:ph idx="1" type="subTitle"/>
          </p:nvPr>
        </p:nvSpPr>
        <p:spPr>
          <a:xfrm>
            <a:off x="241488" y="4168794"/>
            <a:ext cx="8315851" cy="457076"/>
          </a:xfrm>
          <a:prstGeom prst="rect">
            <a:avLst/>
          </a:prstGeom>
          <a:noFill/>
          <a:ln>
            <a:noFill/>
          </a:ln>
        </p:spPr>
        <p:txBody>
          <a:bodyPr anchorCtr="0" anchor="t" bIns="45700" lIns="91425" spcFirstLastPara="1" rIns="91425" wrap="square" tIns="45700">
            <a:noAutofit/>
          </a:bodyPr>
          <a:lstStyle>
            <a:lvl1pPr lvl="0" marR="0" rtl="0" algn="l">
              <a:spcBef>
                <a:spcPts val="280"/>
              </a:spcBef>
              <a:spcAft>
                <a:spcPts val="0"/>
              </a:spcAft>
              <a:buClr>
                <a:srgbClr val="FFFFFF"/>
              </a:buClr>
              <a:buSzPts val="1400"/>
              <a:buFont typeface="Arial"/>
              <a:buNone/>
              <a:defRPr b="0" i="0" sz="1400" u="none" cap="none" strike="noStrike">
                <a:solidFill>
                  <a:srgbClr val="FFFFFF"/>
                </a:solidFill>
                <a:latin typeface="Arial"/>
                <a:ea typeface="Arial"/>
                <a:cs typeface="Arial"/>
                <a:sym typeface="Arial"/>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9pPr>
          </a:lstStyle>
          <a:p/>
        </p:txBody>
      </p:sp>
      <p:pic>
        <p:nvPicPr>
          <p:cNvPr descr="C:\Users\gardel2\Desktop\Brand Approval Reference\Rensselaer Logo Layered Files\RF0010-01 Rensselaer Large Logo\CMYK\PNGs\RF0010-01 Rensselaer Large Logo-with Tagline CMYK-TwoColor.png" id="70" name="Google Shape;70;p16"/>
          <p:cNvPicPr preferRelativeResize="0"/>
          <p:nvPr/>
        </p:nvPicPr>
        <p:blipFill rotWithShape="1">
          <a:blip r:embed="rId2">
            <a:alphaModFix/>
          </a:blip>
          <a:srcRect b="0" l="0" r="0" t="0"/>
          <a:stretch/>
        </p:blipFill>
        <p:spPr>
          <a:xfrm>
            <a:off x="350837" y="584491"/>
            <a:ext cx="2738034" cy="664485"/>
          </a:xfrm>
          <a:prstGeom prst="rect">
            <a:avLst/>
          </a:prstGeom>
          <a:noFill/>
          <a:ln>
            <a:noFill/>
          </a:ln>
        </p:spPr>
      </p:pic>
      <p:cxnSp>
        <p:nvCxnSpPr>
          <p:cNvPr id="71" name="Google Shape;71;p16"/>
          <p:cNvCxnSpPr/>
          <p:nvPr/>
        </p:nvCxnSpPr>
        <p:spPr>
          <a:xfrm>
            <a:off x="3175" y="2333419"/>
            <a:ext cx="9144000" cy="0"/>
          </a:xfrm>
          <a:prstGeom prst="straightConnector1">
            <a:avLst/>
          </a:prstGeom>
          <a:noFill/>
          <a:ln cap="flat" cmpd="sng" w="9525">
            <a:solidFill>
              <a:srgbClr val="D6001C"/>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type="title">
  <p:cSld name="TITLE">
    <p:spTree>
      <p:nvGrpSpPr>
        <p:cNvPr id="72" name="Shape 72"/>
        <p:cNvGrpSpPr/>
        <p:nvPr/>
      </p:nvGrpSpPr>
      <p:grpSpPr>
        <a:xfrm>
          <a:off x="0" y="0"/>
          <a:ext cx="0" cy="0"/>
          <a:chOff x="0" y="0"/>
          <a:chExt cx="0" cy="0"/>
        </a:xfrm>
      </p:grpSpPr>
      <p:pic>
        <p:nvPicPr>
          <p:cNvPr descr="photo-1442406964439-e46ab8eff7c4.jpg" id="73" name="Google Shape;73;p17"/>
          <p:cNvPicPr preferRelativeResize="0"/>
          <p:nvPr/>
        </p:nvPicPr>
        <p:blipFill rotWithShape="1">
          <a:blip r:embed="rId2">
            <a:alphaModFix/>
          </a:blip>
          <a:srcRect b="0" l="5462" r="5649" t="0"/>
          <a:stretch/>
        </p:blipFill>
        <p:spPr>
          <a:xfrm>
            <a:off x="-1" y="0"/>
            <a:ext cx="9144001" cy="5143500"/>
          </a:xfrm>
          <a:prstGeom prst="rect">
            <a:avLst/>
          </a:prstGeom>
          <a:noFill/>
          <a:ln>
            <a:noFill/>
          </a:ln>
        </p:spPr>
      </p:pic>
      <p:pic>
        <p:nvPicPr>
          <p:cNvPr descr="C:\Users\gardel2\Desktop\PPT Template\Placed\RF0010-01 Rensselaer Large Logo RGB-White.png" id="74" name="Google Shape;74;p17"/>
          <p:cNvPicPr preferRelativeResize="0"/>
          <p:nvPr/>
        </p:nvPicPr>
        <p:blipFill rotWithShape="1">
          <a:blip r:embed="rId3">
            <a:alphaModFix/>
          </a:blip>
          <a:srcRect b="0" l="0" r="0" t="0"/>
          <a:stretch/>
        </p:blipFill>
        <p:spPr>
          <a:xfrm>
            <a:off x="319664" y="4395174"/>
            <a:ext cx="2020274" cy="377238"/>
          </a:xfrm>
          <a:prstGeom prst="rect">
            <a:avLst/>
          </a:prstGeom>
          <a:noFill/>
          <a:ln>
            <a:noFill/>
          </a:ln>
        </p:spPr>
      </p:pic>
      <p:sp>
        <p:nvSpPr>
          <p:cNvPr id="75" name="Google Shape;75;p17"/>
          <p:cNvSpPr txBox="1"/>
          <p:nvPr>
            <p:ph type="ctrTitle"/>
          </p:nvPr>
        </p:nvSpPr>
        <p:spPr>
          <a:xfrm>
            <a:off x="216321" y="2536600"/>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4800"/>
              <a:buFont typeface="Arial"/>
              <a:buNone/>
              <a:defRPr b="1" i="0" sz="48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6" name="Google Shape;76;p17"/>
          <p:cNvSpPr txBox="1"/>
          <p:nvPr>
            <p:ph idx="1" type="subTitle"/>
          </p:nvPr>
        </p:nvSpPr>
        <p:spPr>
          <a:xfrm>
            <a:off x="241488" y="3715788"/>
            <a:ext cx="8315851" cy="457076"/>
          </a:xfrm>
          <a:prstGeom prst="rect">
            <a:avLst/>
          </a:prstGeom>
          <a:noFill/>
          <a:ln>
            <a:noFill/>
          </a:ln>
        </p:spPr>
        <p:txBody>
          <a:bodyPr anchorCtr="0" anchor="t" bIns="45700" lIns="91425" spcFirstLastPara="1" rIns="91425" wrap="square" tIns="45700">
            <a:noAutofit/>
          </a:bodyPr>
          <a:lstStyle>
            <a:lvl1pPr lvl="0" marR="0" rtl="0" algn="l">
              <a:spcBef>
                <a:spcPts val="280"/>
              </a:spcBef>
              <a:spcAft>
                <a:spcPts val="0"/>
              </a:spcAft>
              <a:buClr>
                <a:srgbClr val="FFFFFF"/>
              </a:buClr>
              <a:buSzPts val="1400"/>
              <a:buFont typeface="Arial"/>
              <a:buNone/>
              <a:defRPr b="0" i="0" sz="1400" u="none" cap="none" strike="noStrike">
                <a:solidFill>
                  <a:srgbClr val="FFFFFF"/>
                </a:solidFill>
                <a:latin typeface="Arial"/>
                <a:ea typeface="Arial"/>
                <a:cs typeface="Arial"/>
                <a:sym typeface="Arial"/>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77" name="Shape 77"/>
        <p:cNvGrpSpPr/>
        <p:nvPr/>
      </p:nvGrpSpPr>
      <p:grpSpPr>
        <a:xfrm>
          <a:off x="0" y="0"/>
          <a:ext cx="0" cy="0"/>
          <a:chOff x="0" y="0"/>
          <a:chExt cx="0" cy="0"/>
        </a:xfrm>
      </p:grpSpPr>
      <p:sp>
        <p:nvSpPr>
          <p:cNvPr id="78" name="Google Shape;78;p18"/>
          <p:cNvSpPr/>
          <p:nvPr>
            <p:ph idx="2" type="pic"/>
          </p:nvPr>
        </p:nvSpPr>
        <p:spPr>
          <a:xfrm>
            <a:off x="4572000" y="596897"/>
            <a:ext cx="4572000" cy="4138219"/>
          </a:xfrm>
          <a:prstGeom prst="rect">
            <a:avLst/>
          </a:prstGeom>
          <a:noFill/>
          <a:ln>
            <a:noFill/>
          </a:ln>
        </p:spPr>
      </p:sp>
      <p:sp>
        <p:nvSpPr>
          <p:cNvPr id="79" name="Google Shape;79;p18"/>
          <p:cNvSpPr txBox="1"/>
          <p:nvPr>
            <p:ph idx="1"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rgbClr val="DB091C"/>
              </a:buClr>
              <a:buSzPts val="1800"/>
              <a:buFont typeface="Noto Sans Symbols"/>
              <a:buChar char="▪"/>
              <a:defRPr b="0" i="0" sz="1800" u="none" cap="none" strike="noStrike">
                <a:solidFill>
                  <a:srgbClr val="5F6062"/>
                </a:solidFill>
                <a:latin typeface="Arial"/>
                <a:ea typeface="Arial"/>
                <a:cs typeface="Arial"/>
                <a:sym typeface="Arial"/>
              </a:defRPr>
            </a:lvl2pPr>
            <a:lvl3pPr indent="-317500" lvl="2" marL="1371600" marR="0" rtl="0" algn="l">
              <a:spcBef>
                <a:spcPts val="600"/>
              </a:spcBef>
              <a:spcAft>
                <a:spcPts val="0"/>
              </a:spcAft>
              <a:buClr>
                <a:srgbClr val="DB091C"/>
              </a:buClr>
              <a:buSzPts val="1400"/>
              <a:buFont typeface="Arial"/>
              <a:buChar char="−"/>
              <a:defRPr b="0" i="0" sz="1400" u="none" cap="none" strike="noStrike">
                <a:solidFill>
                  <a:srgbClr val="5F6062"/>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80" name="Google Shape;80;p18"/>
          <p:cNvCxnSpPr/>
          <p:nvPr/>
        </p:nvCxnSpPr>
        <p:spPr>
          <a:xfrm>
            <a:off x="0" y="596897"/>
            <a:ext cx="9144000" cy="0"/>
          </a:xfrm>
          <a:prstGeom prst="straightConnector1">
            <a:avLst/>
          </a:prstGeom>
          <a:noFill/>
          <a:ln cap="flat" cmpd="sng" w="9525">
            <a:solidFill>
              <a:srgbClr val="D6001C"/>
            </a:solidFill>
            <a:prstDash val="solid"/>
            <a:round/>
            <a:headEnd len="sm" w="sm" type="none"/>
            <a:tailEnd len="sm" w="sm" type="none"/>
          </a:ln>
        </p:spPr>
      </p:cxnSp>
      <p:sp>
        <p:nvSpPr>
          <p:cNvPr id="81" name="Google Shape;81;p18"/>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2" name="Google Shape;82;p18"/>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83" name="Google Shape;83;p18"/>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84" name="Google Shape;84;p18"/>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85" name="Google Shape;85;p18"/>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86" name="Google Shape;86;p18"/>
          <p:cNvSpPr txBox="1"/>
          <p:nvPr>
            <p:ph idx="3" type="body"/>
          </p:nvPr>
        </p:nvSpPr>
        <p:spPr>
          <a:xfrm>
            <a:off x="224416" y="778091"/>
            <a:ext cx="6257925" cy="1371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D6001C"/>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D6001C"/>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hoto">
  <p:cSld name="3_Photo">
    <p:spTree>
      <p:nvGrpSpPr>
        <p:cNvPr id="87" name="Shape 87"/>
        <p:cNvGrpSpPr/>
        <p:nvPr/>
      </p:nvGrpSpPr>
      <p:grpSpPr>
        <a:xfrm>
          <a:off x="0" y="0"/>
          <a:ext cx="0" cy="0"/>
          <a:chOff x="0" y="0"/>
          <a:chExt cx="0" cy="0"/>
        </a:xfrm>
      </p:grpSpPr>
      <p:sp>
        <p:nvSpPr>
          <p:cNvPr id="88" name="Google Shape;88;p19"/>
          <p:cNvSpPr/>
          <p:nvPr>
            <p:ph idx="2" type="pic"/>
          </p:nvPr>
        </p:nvSpPr>
        <p:spPr>
          <a:xfrm>
            <a:off x="-1" y="596897"/>
            <a:ext cx="4572000" cy="4138219"/>
          </a:xfrm>
          <a:prstGeom prst="rect">
            <a:avLst/>
          </a:prstGeom>
          <a:noFill/>
          <a:ln>
            <a:noFill/>
          </a:ln>
        </p:spPr>
      </p:sp>
      <p:sp>
        <p:nvSpPr>
          <p:cNvPr id="89" name="Google Shape;89;p19"/>
          <p:cNvSpPr txBox="1"/>
          <p:nvPr>
            <p:ph idx="1"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rgbClr val="DB091C"/>
              </a:buClr>
              <a:buSzPts val="1800"/>
              <a:buFont typeface="Noto Sans Symbols"/>
              <a:buChar char="▪"/>
              <a:defRPr b="0" i="0" sz="1800" u="none" cap="none" strike="noStrike">
                <a:solidFill>
                  <a:srgbClr val="5F6062"/>
                </a:solidFill>
                <a:latin typeface="Arial"/>
                <a:ea typeface="Arial"/>
                <a:cs typeface="Arial"/>
                <a:sym typeface="Arial"/>
              </a:defRPr>
            </a:lvl2pPr>
            <a:lvl3pPr indent="-317500" lvl="2" marL="1371600" marR="0" rtl="0" algn="l">
              <a:spcBef>
                <a:spcPts val="600"/>
              </a:spcBef>
              <a:spcAft>
                <a:spcPts val="0"/>
              </a:spcAft>
              <a:buClr>
                <a:srgbClr val="DB091C"/>
              </a:buClr>
              <a:buSzPts val="1400"/>
              <a:buFont typeface="Arial"/>
              <a:buChar char="−"/>
              <a:defRPr b="0" i="0" sz="1400" u="none" cap="none" strike="noStrike">
                <a:solidFill>
                  <a:srgbClr val="5F6062"/>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90" name="Google Shape;90;p19"/>
          <p:cNvCxnSpPr/>
          <p:nvPr/>
        </p:nvCxnSpPr>
        <p:spPr>
          <a:xfrm>
            <a:off x="0" y="596897"/>
            <a:ext cx="9144000" cy="0"/>
          </a:xfrm>
          <a:prstGeom prst="straightConnector1">
            <a:avLst/>
          </a:prstGeom>
          <a:noFill/>
          <a:ln cap="flat" cmpd="sng" w="9525">
            <a:solidFill>
              <a:srgbClr val="D6001C"/>
            </a:solidFill>
            <a:prstDash val="solid"/>
            <a:round/>
            <a:headEnd len="sm" w="sm" type="none"/>
            <a:tailEnd len="sm" w="sm" type="none"/>
          </a:ln>
        </p:spPr>
      </p:cxnSp>
      <p:sp>
        <p:nvSpPr>
          <p:cNvPr id="91" name="Google Shape;91;p19"/>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19"/>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93" name="Google Shape;93;p19"/>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94" name="Google Shape;94;p19"/>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95" name="Google Shape;95;p19"/>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96" name="Google Shape;96;p19"/>
          <p:cNvSpPr txBox="1"/>
          <p:nvPr>
            <p:ph idx="3" type="body"/>
          </p:nvPr>
        </p:nvSpPr>
        <p:spPr>
          <a:xfrm>
            <a:off x="4815280" y="778091"/>
            <a:ext cx="3993757" cy="1371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D6001C"/>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D6001C"/>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hoto">
  <p:cSld name="2_Photo">
    <p:spTree>
      <p:nvGrpSpPr>
        <p:cNvPr id="97" name="Shape 97"/>
        <p:cNvGrpSpPr/>
        <p:nvPr/>
      </p:nvGrpSpPr>
      <p:grpSpPr>
        <a:xfrm>
          <a:off x="0" y="0"/>
          <a:ext cx="0" cy="0"/>
          <a:chOff x="0" y="0"/>
          <a:chExt cx="0" cy="0"/>
        </a:xfrm>
      </p:grpSpPr>
      <p:sp>
        <p:nvSpPr>
          <p:cNvPr id="98" name="Google Shape;98;p20"/>
          <p:cNvSpPr/>
          <p:nvPr/>
        </p:nvSpPr>
        <p:spPr>
          <a:xfrm>
            <a:off x="-1" y="0"/>
            <a:ext cx="9144001" cy="4792905"/>
          </a:xfrm>
          <a:prstGeom prst="rect">
            <a:avLst/>
          </a:prstGeom>
          <a:solidFill>
            <a:srgbClr val="5458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9" name="Google Shape;99;p20"/>
          <p:cNvSpPr txBox="1"/>
          <p:nvPr>
            <p:ph idx="1"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chemeClr val="lt1"/>
              </a:buClr>
              <a:buSzPts val="1800"/>
              <a:buFont typeface="Noto Sans Symbols"/>
              <a:buChar char="▪"/>
              <a:defRPr b="0" i="0" sz="1800" u="none" cap="none" strike="noStrike">
                <a:solidFill>
                  <a:schemeClr val="lt1"/>
                </a:solidFill>
                <a:latin typeface="Arial"/>
                <a:ea typeface="Arial"/>
                <a:cs typeface="Arial"/>
                <a:sym typeface="Arial"/>
              </a:defRPr>
            </a:lvl2pPr>
            <a:lvl3pPr indent="-317500" lvl="2" marL="1371600" marR="0" rtl="0" algn="l">
              <a:spcBef>
                <a:spcPts val="6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100" name="Google Shape;100;p20"/>
          <p:cNvCxnSpPr/>
          <p:nvPr/>
        </p:nvCxnSpPr>
        <p:spPr>
          <a:xfrm>
            <a:off x="0" y="596897"/>
            <a:ext cx="9144000" cy="0"/>
          </a:xfrm>
          <a:prstGeom prst="straightConnector1">
            <a:avLst/>
          </a:prstGeom>
          <a:noFill/>
          <a:ln cap="flat" cmpd="sng" w="9525">
            <a:solidFill>
              <a:schemeClr val="lt1"/>
            </a:solidFill>
            <a:prstDash val="solid"/>
            <a:round/>
            <a:headEnd len="sm" w="sm" type="none"/>
            <a:tailEnd len="sm" w="sm" type="none"/>
          </a:ln>
        </p:spPr>
      </p:cxnSp>
      <p:sp>
        <p:nvSpPr>
          <p:cNvPr id="101" name="Google Shape;101;p20"/>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2" name="Google Shape;102;p20"/>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03" name="Google Shape;103;p20"/>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04" name="Google Shape;104;p20"/>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05" name="Google Shape;105;p20"/>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106" name="Google Shape;106;p20"/>
          <p:cNvSpPr txBox="1"/>
          <p:nvPr>
            <p:ph idx="2" type="body"/>
          </p:nvPr>
        </p:nvSpPr>
        <p:spPr>
          <a:xfrm>
            <a:off x="223838" y="761831"/>
            <a:ext cx="5113337" cy="1426564"/>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FFFFFF"/>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FFFFFF"/>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486">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107" name="Shape 107"/>
        <p:cNvGrpSpPr/>
        <p:nvPr/>
      </p:nvGrpSpPr>
      <p:grpSpPr>
        <a:xfrm>
          <a:off x="0" y="0"/>
          <a:ext cx="0" cy="0"/>
          <a:chOff x="0" y="0"/>
          <a:chExt cx="0" cy="0"/>
        </a:xfrm>
      </p:grpSpPr>
      <p:cxnSp>
        <p:nvCxnSpPr>
          <p:cNvPr id="108" name="Google Shape;108;p21"/>
          <p:cNvCxnSpPr/>
          <p:nvPr/>
        </p:nvCxnSpPr>
        <p:spPr>
          <a:xfrm>
            <a:off x="-3924" y="2764934"/>
            <a:ext cx="9144000" cy="0"/>
          </a:xfrm>
          <a:prstGeom prst="straightConnector1">
            <a:avLst/>
          </a:prstGeom>
          <a:noFill/>
          <a:ln cap="flat" cmpd="sng" w="9525">
            <a:solidFill>
              <a:srgbClr val="D6001C"/>
            </a:solidFill>
            <a:prstDash val="solid"/>
            <a:round/>
            <a:headEnd len="sm" w="sm" type="none"/>
            <a:tailEnd len="sm" w="sm" type="none"/>
          </a:ln>
        </p:spPr>
      </p:cxnSp>
      <p:sp>
        <p:nvSpPr>
          <p:cNvPr id="109" name="Google Shape;109;p21"/>
          <p:cNvSpPr txBox="1"/>
          <p:nvPr/>
        </p:nvSpPr>
        <p:spPr>
          <a:xfrm>
            <a:off x="214255" y="840664"/>
            <a:ext cx="8315851" cy="54304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4585A"/>
              </a:buClr>
              <a:buSzPts val="4800"/>
              <a:buFont typeface="Arial"/>
              <a:buNone/>
            </a:pPr>
            <a:r>
              <a:rPr b="1" i="0" lang="en" sz="4800" u="none" cap="none" strike="noStrike">
                <a:solidFill>
                  <a:srgbClr val="54585A"/>
                </a:solidFill>
                <a:latin typeface="Arial"/>
                <a:ea typeface="Arial"/>
                <a:cs typeface="Arial"/>
                <a:sym typeface="Arial"/>
              </a:rPr>
              <a:t>Divider Slide 1</a:t>
            </a:r>
            <a:br>
              <a:rPr b="1" i="0" lang="en" sz="4800" u="none" cap="none" strike="noStrike">
                <a:solidFill>
                  <a:srgbClr val="54585A"/>
                </a:solidFill>
                <a:latin typeface="Arial"/>
                <a:ea typeface="Arial"/>
                <a:cs typeface="Arial"/>
                <a:sym typeface="Arial"/>
              </a:rPr>
            </a:br>
            <a:r>
              <a:rPr b="1" i="0" lang="en" sz="4800" u="none" cap="none" strike="noStrike">
                <a:solidFill>
                  <a:srgbClr val="54585A"/>
                </a:solidFill>
                <a:latin typeface="Arial"/>
                <a:ea typeface="Arial"/>
                <a:cs typeface="Arial"/>
                <a:sym typeface="Arial"/>
              </a:rPr>
              <a:t>Two Lines Max</a:t>
            </a:r>
            <a:endParaRPr b="1" i="0" sz="4800" u="none" cap="none" strike="noStrike">
              <a:solidFill>
                <a:srgbClr val="54585A"/>
              </a:solidFill>
              <a:latin typeface="Arial"/>
              <a:ea typeface="Arial"/>
              <a:cs typeface="Arial"/>
              <a:sym typeface="Arial"/>
            </a:endParaRPr>
          </a:p>
        </p:txBody>
      </p:sp>
      <p:sp>
        <p:nvSpPr>
          <p:cNvPr id="110" name="Google Shape;110;p21"/>
          <p:cNvSpPr/>
          <p:nvPr/>
        </p:nvSpPr>
        <p:spPr>
          <a:xfrm>
            <a:off x="1" y="2803502"/>
            <a:ext cx="9144000" cy="2356118"/>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1" name="Google Shape;111;p21"/>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12" name="Google Shape;112;p21"/>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13" name="Google Shape;113;p21"/>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14" name="Google Shape;114;p21"/>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15" name="Shape 115"/>
        <p:cNvGrpSpPr/>
        <p:nvPr/>
      </p:nvGrpSpPr>
      <p:grpSpPr>
        <a:xfrm>
          <a:off x="0" y="0"/>
          <a:ext cx="0" cy="0"/>
          <a:chOff x="0" y="0"/>
          <a:chExt cx="0" cy="0"/>
        </a:xfrm>
      </p:grpSpPr>
      <p:sp>
        <p:nvSpPr>
          <p:cNvPr id="116" name="Google Shape;116;p22"/>
          <p:cNvSpPr/>
          <p:nvPr/>
        </p:nvSpPr>
        <p:spPr>
          <a:xfrm>
            <a:off x="0" y="1"/>
            <a:ext cx="9144000" cy="4779168"/>
          </a:xfrm>
          <a:prstGeom prst="rect">
            <a:avLst/>
          </a:prstGeom>
          <a:solidFill>
            <a:srgbClr val="5458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7" name="Google Shape;117;p22"/>
          <p:cNvSpPr txBox="1"/>
          <p:nvPr>
            <p:ph type="ctrTitle"/>
          </p:nvPr>
        </p:nvSpPr>
        <p:spPr>
          <a:xfrm>
            <a:off x="214255" y="840664"/>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5000"/>
              <a:buFont typeface="Arial"/>
              <a:buNone/>
              <a:defRPr b="1" i="0" sz="50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8" name="Google Shape;118;p22"/>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9" name="Google Shape;119;p22"/>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20" name="Google Shape;120;p22"/>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21" name="Google Shape;121;p22"/>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22" name="Google Shape;122;p22"/>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23" name="Shape 123"/>
        <p:cNvGrpSpPr/>
        <p:nvPr/>
      </p:nvGrpSpPr>
      <p:grpSpPr>
        <a:xfrm>
          <a:off x="0" y="0"/>
          <a:ext cx="0" cy="0"/>
          <a:chOff x="0" y="0"/>
          <a:chExt cx="0" cy="0"/>
        </a:xfrm>
      </p:grpSpPr>
      <p:sp>
        <p:nvSpPr>
          <p:cNvPr id="124" name="Google Shape;124;p23"/>
          <p:cNvSpPr txBox="1"/>
          <p:nvPr>
            <p:ph type="ctrTitle"/>
          </p:nvPr>
        </p:nvSpPr>
        <p:spPr>
          <a:xfrm>
            <a:off x="214255" y="840664"/>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5000"/>
              <a:buFont typeface="Arial"/>
              <a:buNone/>
              <a:defRPr b="1" i="0" sz="50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5" name="Google Shape;125;p23"/>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6" name="Google Shape;126;p23"/>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27" name="Google Shape;127;p23"/>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28" name="Google Shape;128;p23"/>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29" name="Google Shape;129;p23"/>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30" name="Shape 130"/>
        <p:cNvGrpSpPr/>
        <p:nvPr/>
      </p:nvGrpSpPr>
      <p:grpSpPr>
        <a:xfrm>
          <a:off x="0" y="0"/>
          <a:ext cx="0" cy="0"/>
          <a:chOff x="0" y="0"/>
          <a:chExt cx="0" cy="0"/>
        </a:xfrm>
      </p:grpSpPr>
      <p:sp>
        <p:nvSpPr>
          <p:cNvPr id="131" name="Google Shape;131;p24"/>
          <p:cNvSpPr/>
          <p:nvPr>
            <p:ph idx="2" type="pic"/>
          </p:nvPr>
        </p:nvSpPr>
        <p:spPr>
          <a:xfrm>
            <a:off x="0" y="0"/>
            <a:ext cx="9144000" cy="4735116"/>
          </a:xfrm>
          <a:prstGeom prst="rect">
            <a:avLst/>
          </a:prstGeom>
          <a:noFill/>
          <a:ln>
            <a:noFill/>
          </a:ln>
        </p:spPr>
      </p:sp>
      <p:sp>
        <p:nvSpPr>
          <p:cNvPr id="132" name="Google Shape;132;p24"/>
          <p:cNvSpPr txBox="1"/>
          <p:nvPr>
            <p:ph type="title"/>
          </p:nvPr>
        </p:nvSpPr>
        <p:spPr>
          <a:xfrm>
            <a:off x="220253" y="3401331"/>
            <a:ext cx="8229600" cy="857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5400"/>
              <a:buFont typeface="Arial"/>
              <a:buNone/>
              <a:defRPr b="0" i="0" sz="5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3" name="Google Shape;133;p24"/>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24"/>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 sz="700">
                <a:solidFill>
                  <a:srgbClr val="FFFFFF"/>
                </a:solidFill>
                <a:latin typeface="Arial"/>
                <a:ea typeface="Arial"/>
                <a:cs typeface="Arial"/>
                <a:sym typeface="Arial"/>
              </a:rPr>
              <a:t>11/30/2018</a:t>
            </a:r>
            <a:endParaRPr sz="700">
              <a:solidFill>
                <a:srgbClr val="FFFFFF"/>
              </a:solidFill>
              <a:latin typeface="Arial"/>
              <a:ea typeface="Arial"/>
              <a:cs typeface="Arial"/>
              <a:sym typeface="Arial"/>
            </a:endParaRPr>
          </a:p>
        </p:txBody>
      </p:sp>
      <p:sp>
        <p:nvSpPr>
          <p:cNvPr id="135" name="Google Shape;135;p24"/>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 sz="900">
                <a:solidFill>
                  <a:srgbClr val="FFFFFF"/>
                </a:solidFill>
                <a:latin typeface="Arial"/>
                <a:ea typeface="Arial"/>
                <a:cs typeface="Arial"/>
                <a:sym typeface="Arial"/>
              </a:rPr>
              <a:t>‹#›</a:t>
            </a:fld>
            <a:endParaRPr b="0" sz="900">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36" name="Google Shape;136;p24"/>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37" name="Google Shape;137;p24"/>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 sz="700">
                <a:solidFill>
                  <a:schemeClr val="lt1"/>
                </a:solidFill>
                <a:latin typeface="Arial"/>
                <a:ea typeface="Arial"/>
                <a:cs typeface="Arial"/>
                <a:sym typeface="Arial"/>
              </a:rPr>
              <a:t>{ INSERT TITLE HERE ]</a:t>
            </a:r>
            <a:endParaRPr sz="700">
              <a:solidFill>
                <a:schemeClr val="lt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38" name="Shape 138"/>
        <p:cNvGrpSpPr/>
        <p:nvPr/>
      </p:nvGrpSpPr>
      <p:grpSpPr>
        <a:xfrm>
          <a:off x="0" y="0"/>
          <a:ext cx="0" cy="0"/>
          <a:chOff x="0" y="0"/>
          <a:chExt cx="0" cy="0"/>
        </a:xfrm>
      </p:grpSpPr>
      <p:sp>
        <p:nvSpPr>
          <p:cNvPr id="139" name="Google Shape;139;p25"/>
          <p:cNvSpPr/>
          <p:nvPr/>
        </p:nvSpPr>
        <p:spPr>
          <a:xfrm>
            <a:off x="0" y="0"/>
            <a:ext cx="9144001" cy="5143500"/>
          </a:xfrm>
          <a:prstGeom prst="rect">
            <a:avLst/>
          </a:prstGeom>
          <a:solidFill>
            <a:srgbClr val="54585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40" name="Google Shape;140;p25"/>
          <p:cNvPicPr preferRelativeResize="0"/>
          <p:nvPr/>
        </p:nvPicPr>
        <p:blipFill rotWithShape="1">
          <a:blip r:embed="rId2">
            <a:alphaModFix/>
          </a:blip>
          <a:srcRect b="0" l="0" r="6662" t="0"/>
          <a:stretch/>
        </p:blipFill>
        <p:spPr>
          <a:xfrm>
            <a:off x="3175" y="0"/>
            <a:ext cx="9144000" cy="5143499"/>
          </a:xfrm>
          <a:prstGeom prst="rect">
            <a:avLst/>
          </a:prstGeom>
          <a:noFill/>
          <a:ln>
            <a:noFill/>
          </a:ln>
        </p:spPr>
      </p:pic>
      <p:pic>
        <p:nvPicPr>
          <p:cNvPr descr="C:\Users\gardel2\Desktop\PPT Template\Placed\RF0010-01 Rensselaer Large Logo-with Tagline RGB-White.png" id="141" name="Google Shape;141;p25"/>
          <p:cNvPicPr preferRelativeResize="0"/>
          <p:nvPr/>
        </p:nvPicPr>
        <p:blipFill rotWithShape="1">
          <a:blip r:embed="rId3">
            <a:alphaModFix/>
          </a:blip>
          <a:srcRect b="0" l="0" r="0" t="0"/>
          <a:stretch/>
        </p:blipFill>
        <p:spPr>
          <a:xfrm>
            <a:off x="1575385" y="2025743"/>
            <a:ext cx="4499684" cy="109201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142" name="Shape 142"/>
        <p:cNvGrpSpPr/>
        <p:nvPr/>
      </p:nvGrpSpPr>
      <p:grpSpPr>
        <a:xfrm>
          <a:off x="0" y="0"/>
          <a:ext cx="0" cy="0"/>
          <a:chOff x="0" y="0"/>
          <a:chExt cx="0" cy="0"/>
        </a:xfrm>
      </p:grpSpPr>
      <p:sp>
        <p:nvSpPr>
          <p:cNvPr id="143" name="Google Shape;143;p26"/>
          <p:cNvSpPr/>
          <p:nvPr/>
        </p:nvSpPr>
        <p:spPr>
          <a:xfrm>
            <a:off x="0" y="0"/>
            <a:ext cx="9144001" cy="5143500"/>
          </a:xfrm>
          <a:prstGeom prst="rect">
            <a:avLst/>
          </a:prstGeom>
          <a:solidFill>
            <a:srgbClr val="D6001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C:\Users\gardel2\Desktop\PPT Template\Placed\RF0010-01 Rensselaer Large Logo-with Tagline RGB-White.png" id="144" name="Google Shape;144;p26"/>
          <p:cNvPicPr preferRelativeResize="0"/>
          <p:nvPr/>
        </p:nvPicPr>
        <p:blipFill rotWithShape="1">
          <a:blip r:embed="rId2">
            <a:alphaModFix/>
          </a:blip>
          <a:srcRect b="0" l="0" r="0" t="0"/>
          <a:stretch/>
        </p:blipFill>
        <p:spPr>
          <a:xfrm>
            <a:off x="1575385" y="2025743"/>
            <a:ext cx="4499684" cy="109201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ctrTitle"/>
          </p:nvPr>
        </p:nvSpPr>
        <p:spPr>
          <a:xfrm>
            <a:off x="0" y="2381101"/>
            <a:ext cx="9144000" cy="1732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4800"/>
              <a:buFont typeface="Arial"/>
              <a:buNone/>
            </a:pPr>
            <a:r>
              <a:rPr lang="en"/>
              <a:t>Graph Coloring for Efficient Code Compilation</a:t>
            </a:r>
            <a:endParaRPr/>
          </a:p>
        </p:txBody>
      </p:sp>
      <p:sp>
        <p:nvSpPr>
          <p:cNvPr id="151" name="Google Shape;151;p27"/>
          <p:cNvSpPr txBox="1"/>
          <p:nvPr>
            <p:ph idx="1" type="subTitle"/>
          </p:nvPr>
        </p:nvSpPr>
        <p:spPr>
          <a:xfrm>
            <a:off x="241563" y="4513619"/>
            <a:ext cx="83160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400"/>
              <a:buNone/>
            </a:pPr>
            <a:r>
              <a:rPr lang="en"/>
              <a:t>CSCI  |  10/22/2025</a:t>
            </a:r>
            <a:endParaRPr/>
          </a:p>
        </p:txBody>
      </p:sp>
      <p:sp>
        <p:nvSpPr>
          <p:cNvPr id="152" name="Google Shape;152;p27"/>
          <p:cNvSpPr txBox="1"/>
          <p:nvPr>
            <p:ph idx="1" type="subTitle"/>
          </p:nvPr>
        </p:nvSpPr>
        <p:spPr>
          <a:xfrm>
            <a:off x="241563" y="4056419"/>
            <a:ext cx="83160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400"/>
              <a:buNone/>
            </a:pPr>
            <a:r>
              <a:rPr lang="en"/>
              <a:t>Andrew Erickson, Ethan Rapa, Haven Cook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idx="2"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9EA2A2"/>
              </a:buClr>
              <a:buSzPts val="1800"/>
              <a:buFont typeface="Arial"/>
              <a:buNone/>
            </a:pPr>
            <a:r>
              <a:rPr lang="en"/>
              <a:t>Agenda</a:t>
            </a:r>
            <a:endParaRPr/>
          </a:p>
        </p:txBody>
      </p:sp>
      <p:sp>
        <p:nvSpPr>
          <p:cNvPr id="159" name="Google Shape;159;p28"/>
          <p:cNvSpPr txBox="1"/>
          <p:nvPr>
            <p:ph idx="1" type="body"/>
          </p:nvPr>
        </p:nvSpPr>
        <p:spPr>
          <a:xfrm>
            <a:off x="224425" y="778116"/>
            <a:ext cx="7183200" cy="3814500"/>
          </a:xfrm>
          <a:prstGeom prst="rect">
            <a:avLst/>
          </a:prstGeom>
          <a:noFill/>
          <a:ln>
            <a:noFill/>
          </a:ln>
        </p:spPr>
        <p:txBody>
          <a:bodyPr anchorCtr="0" anchor="t" bIns="45700" lIns="91425" spcFirstLastPara="1" rIns="91425" wrap="square" tIns="45700">
            <a:noAutofit/>
          </a:bodyPr>
          <a:lstStyle/>
          <a:p>
            <a:pPr indent="-225425" lvl="1" marL="225425" marR="0" rtl="0" algn="l">
              <a:lnSpc>
                <a:spcPct val="100000"/>
              </a:lnSpc>
              <a:spcBef>
                <a:spcPts val="2000"/>
              </a:spcBef>
              <a:spcAft>
                <a:spcPts val="0"/>
              </a:spcAft>
              <a:buClr>
                <a:srgbClr val="D6001C"/>
              </a:buClr>
              <a:buSzPts val="2000"/>
              <a:buFont typeface="Noto Sans Symbols"/>
              <a:buChar char="▪"/>
            </a:pPr>
            <a:r>
              <a:rPr lang="en" sz="2000"/>
              <a:t>Background</a:t>
            </a:r>
            <a:endParaRPr sz="2000"/>
          </a:p>
          <a:p>
            <a:pPr indent="-211137" lvl="2" marL="461962" marR="0" rtl="0" algn="l">
              <a:lnSpc>
                <a:spcPct val="100000"/>
              </a:lnSpc>
              <a:spcBef>
                <a:spcPts val="2000"/>
              </a:spcBef>
              <a:spcAft>
                <a:spcPts val="0"/>
              </a:spcAft>
              <a:buSzPts val="2000"/>
              <a:buChar char="−"/>
            </a:pPr>
            <a:r>
              <a:rPr lang="en" sz="2000"/>
              <a:t>What is Graph Coloring?</a:t>
            </a:r>
            <a:endParaRPr sz="2000"/>
          </a:p>
          <a:p>
            <a:pPr indent="-211137" lvl="2" marL="461962" marR="0" rtl="0" algn="l">
              <a:lnSpc>
                <a:spcPct val="100000"/>
              </a:lnSpc>
              <a:spcBef>
                <a:spcPts val="2000"/>
              </a:spcBef>
              <a:spcAft>
                <a:spcPts val="0"/>
              </a:spcAft>
              <a:buSzPts val="2000"/>
              <a:buChar char="−"/>
            </a:pPr>
            <a:r>
              <a:rPr lang="en" sz="2000"/>
              <a:t>Interference graphs?</a:t>
            </a:r>
            <a:endParaRPr sz="2000"/>
          </a:p>
          <a:p>
            <a:pPr indent="-174625" lvl="1" marL="225425" marR="0" rtl="0" algn="l">
              <a:lnSpc>
                <a:spcPct val="100000"/>
              </a:lnSpc>
              <a:spcBef>
                <a:spcPts val="2000"/>
              </a:spcBef>
              <a:spcAft>
                <a:spcPts val="0"/>
              </a:spcAft>
              <a:buSzPts val="2000"/>
              <a:buChar char="▪"/>
            </a:pPr>
            <a:r>
              <a:rPr lang="en" sz="2000"/>
              <a:t>Current Status</a:t>
            </a:r>
            <a:endParaRPr sz="2000"/>
          </a:p>
          <a:p>
            <a:pPr indent="-174625" lvl="1" marL="225425" marR="0" rtl="0" algn="l">
              <a:lnSpc>
                <a:spcPct val="100000"/>
              </a:lnSpc>
              <a:spcBef>
                <a:spcPts val="2000"/>
              </a:spcBef>
              <a:spcAft>
                <a:spcPts val="0"/>
              </a:spcAft>
              <a:buSzPts val="2000"/>
              <a:buChar char="▪"/>
            </a:pPr>
            <a:r>
              <a:rPr lang="en" sz="2000"/>
              <a:t>Next Steps</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idx="2" type="body"/>
          </p:nvPr>
        </p:nvSpPr>
        <p:spPr>
          <a:xfrm>
            <a:off x="224416" y="202609"/>
            <a:ext cx="8324700" cy="394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9EA2A2"/>
              </a:buClr>
              <a:buSzPts val="1800"/>
              <a:buFont typeface="Arial"/>
              <a:buNone/>
            </a:pPr>
            <a:r>
              <a:rPr lang="en"/>
              <a:t>What is Graph Coloring?</a:t>
            </a:r>
            <a:endParaRPr/>
          </a:p>
        </p:txBody>
      </p:sp>
      <p:sp>
        <p:nvSpPr>
          <p:cNvPr id="166" name="Google Shape;166;p29"/>
          <p:cNvSpPr txBox="1"/>
          <p:nvPr>
            <p:ph idx="1" type="body"/>
          </p:nvPr>
        </p:nvSpPr>
        <p:spPr>
          <a:xfrm>
            <a:off x="224425" y="778116"/>
            <a:ext cx="7183200" cy="3814500"/>
          </a:xfrm>
          <a:prstGeom prst="rect">
            <a:avLst/>
          </a:prstGeom>
          <a:noFill/>
          <a:ln>
            <a:noFill/>
          </a:ln>
        </p:spPr>
        <p:txBody>
          <a:bodyPr anchorCtr="0" anchor="t" bIns="45700" lIns="91425" spcFirstLastPara="1" rIns="91425" wrap="square" tIns="45700">
            <a:noAutofit/>
          </a:bodyPr>
          <a:lstStyle/>
          <a:p>
            <a:pPr indent="-174625" lvl="1" marL="225425" rtl="0" algn="l">
              <a:spcBef>
                <a:spcPts val="2000"/>
              </a:spcBef>
              <a:spcAft>
                <a:spcPts val="0"/>
              </a:spcAft>
              <a:buSzPts val="2000"/>
              <a:buChar char="▪"/>
            </a:pPr>
            <a:r>
              <a:rPr lang="en" sz="2000"/>
              <a:t>Graph coloring assigns colors (labels) to nodes of a graph so that no two adjacent nodes share the same color.</a:t>
            </a:r>
            <a:endParaRPr sz="2000"/>
          </a:p>
          <a:p>
            <a:pPr indent="-211137" lvl="2" marL="461962" rtl="0" algn="l">
              <a:spcBef>
                <a:spcPts val="600"/>
              </a:spcBef>
              <a:spcAft>
                <a:spcPts val="0"/>
              </a:spcAft>
              <a:buSzPts val="2000"/>
              <a:buChar char="−"/>
            </a:pPr>
            <a:r>
              <a:rPr lang="en" sz="2000"/>
              <a:t>It’s an NP-hard combinatorial optimization problem.</a:t>
            </a:r>
            <a:endParaRPr sz="2000"/>
          </a:p>
          <a:p>
            <a:pPr indent="-174625" lvl="1" marL="225425" rtl="0" algn="l">
              <a:spcBef>
                <a:spcPts val="2000"/>
              </a:spcBef>
              <a:spcAft>
                <a:spcPts val="0"/>
              </a:spcAft>
              <a:buSzPts val="2000"/>
              <a:buChar char="▪"/>
            </a:pPr>
            <a:r>
              <a:rPr lang="en" sz="2000"/>
              <a:t>Applications:</a:t>
            </a:r>
            <a:endParaRPr sz="2000"/>
          </a:p>
          <a:p>
            <a:pPr indent="-211137" lvl="2" marL="461962" rtl="0" algn="l">
              <a:spcBef>
                <a:spcPts val="600"/>
              </a:spcBef>
              <a:spcAft>
                <a:spcPts val="0"/>
              </a:spcAft>
              <a:buSzPts val="2000"/>
              <a:buChar char="−"/>
            </a:pPr>
            <a:r>
              <a:rPr lang="en" sz="2000"/>
              <a:t>Register allocation in compilers, Scheduling tasks, Frequency assignment, etc</a:t>
            </a:r>
            <a:endParaRPr sz="2000"/>
          </a:p>
          <a:p>
            <a:pPr indent="-174625" lvl="1" marL="225425" rtl="0" algn="l">
              <a:spcBef>
                <a:spcPts val="2000"/>
              </a:spcBef>
              <a:spcAft>
                <a:spcPts val="0"/>
              </a:spcAft>
              <a:buSzPts val="2000"/>
              <a:buChar char="▪"/>
            </a:pPr>
            <a:r>
              <a:rPr lang="en" sz="2000"/>
              <a:t>Goal:</a:t>
            </a:r>
            <a:endParaRPr sz="2000"/>
          </a:p>
          <a:p>
            <a:pPr indent="-211137" lvl="2" marL="461962" rtl="0" algn="l">
              <a:spcBef>
                <a:spcPts val="600"/>
              </a:spcBef>
              <a:spcAft>
                <a:spcPts val="0"/>
              </a:spcAft>
              <a:buSzPts val="2000"/>
              <a:buChar char="−"/>
            </a:pPr>
            <a:r>
              <a:rPr lang="en" sz="2000"/>
              <a:t>Minimize number of colors (chromatic number)</a:t>
            </a:r>
            <a:endParaRPr sz="2000"/>
          </a:p>
          <a:p>
            <a:pPr indent="-211137" lvl="2" marL="461962" rtl="0" algn="l">
              <a:spcBef>
                <a:spcPts val="600"/>
              </a:spcBef>
              <a:spcAft>
                <a:spcPts val="0"/>
              </a:spcAft>
              <a:buSzPts val="2000"/>
              <a:buChar char="−"/>
            </a:pPr>
            <a:r>
              <a:rPr lang="en" sz="2000"/>
              <a:t>Ensure no adjacent nodes conflict</a:t>
            </a:r>
            <a:endParaRPr sz="2000"/>
          </a:p>
        </p:txBody>
      </p:sp>
      <p:pic>
        <p:nvPicPr>
          <p:cNvPr id="167" name="Google Shape;167;p29"/>
          <p:cNvPicPr preferRelativeResize="0"/>
          <p:nvPr/>
        </p:nvPicPr>
        <p:blipFill>
          <a:blip r:embed="rId3">
            <a:alphaModFix/>
          </a:blip>
          <a:stretch>
            <a:fillRect/>
          </a:stretch>
        </p:blipFill>
        <p:spPr>
          <a:xfrm>
            <a:off x="6858000" y="596788"/>
            <a:ext cx="2286000" cy="2028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idx="2" type="body"/>
          </p:nvPr>
        </p:nvSpPr>
        <p:spPr>
          <a:xfrm>
            <a:off x="224416" y="202609"/>
            <a:ext cx="8324700" cy="394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9EA2A2"/>
              </a:buClr>
              <a:buSzPts val="1800"/>
              <a:buFont typeface="Arial"/>
              <a:buNone/>
            </a:pPr>
            <a:r>
              <a:rPr lang="en"/>
              <a:t>What are Interference Graphs?</a:t>
            </a:r>
            <a:endParaRPr/>
          </a:p>
        </p:txBody>
      </p:sp>
      <p:sp>
        <p:nvSpPr>
          <p:cNvPr id="174" name="Google Shape;174;p30"/>
          <p:cNvSpPr txBox="1"/>
          <p:nvPr>
            <p:ph idx="1" type="body"/>
          </p:nvPr>
        </p:nvSpPr>
        <p:spPr>
          <a:xfrm>
            <a:off x="224425" y="778116"/>
            <a:ext cx="7183200" cy="3814500"/>
          </a:xfrm>
          <a:prstGeom prst="rect">
            <a:avLst/>
          </a:prstGeom>
          <a:noFill/>
          <a:ln>
            <a:noFill/>
          </a:ln>
        </p:spPr>
        <p:txBody>
          <a:bodyPr anchorCtr="0" anchor="t" bIns="45700" lIns="91425" spcFirstLastPara="1" rIns="91425" wrap="square" tIns="45700">
            <a:noAutofit/>
          </a:bodyPr>
          <a:lstStyle/>
          <a:p>
            <a:pPr indent="-174625" lvl="1" marL="225425" rtl="0" algn="l">
              <a:spcBef>
                <a:spcPts val="2000"/>
              </a:spcBef>
              <a:spcAft>
                <a:spcPts val="0"/>
              </a:spcAft>
              <a:buSzPts val="2000"/>
              <a:buChar char="▪"/>
            </a:pPr>
            <a:r>
              <a:rPr lang="en" sz="2000"/>
              <a:t>Interference Graphs:</a:t>
            </a:r>
            <a:endParaRPr sz="2000"/>
          </a:p>
          <a:p>
            <a:pPr indent="-211137" lvl="2" marL="461962" rtl="0" algn="l">
              <a:spcBef>
                <a:spcPts val="600"/>
              </a:spcBef>
              <a:spcAft>
                <a:spcPts val="0"/>
              </a:spcAft>
              <a:buSzPts val="2000"/>
              <a:buChar char="−"/>
            </a:pPr>
            <a:r>
              <a:rPr lang="en" sz="2000"/>
              <a:t>Nodes = program variables</a:t>
            </a:r>
            <a:endParaRPr sz="2000"/>
          </a:p>
          <a:p>
            <a:pPr indent="-211137" lvl="2" marL="461962" rtl="0" algn="l">
              <a:spcBef>
                <a:spcPts val="600"/>
              </a:spcBef>
              <a:spcAft>
                <a:spcPts val="0"/>
              </a:spcAft>
              <a:buSzPts val="2000"/>
              <a:buChar char="−"/>
            </a:pPr>
            <a:r>
              <a:rPr lang="en" sz="2000"/>
              <a:t>Edge = variables live at the same time (cannot share register)</a:t>
            </a:r>
            <a:endParaRPr sz="2000"/>
          </a:p>
          <a:p>
            <a:pPr indent="-174625" lvl="1" marL="225425" rtl="0" algn="l">
              <a:spcBef>
                <a:spcPts val="2000"/>
              </a:spcBef>
              <a:spcAft>
                <a:spcPts val="0"/>
              </a:spcAft>
              <a:buSzPts val="2000"/>
              <a:buChar char="▪"/>
            </a:pPr>
            <a:r>
              <a:rPr lang="en" sz="2000"/>
              <a:t>Register Reallocation:</a:t>
            </a:r>
            <a:endParaRPr sz="2000"/>
          </a:p>
          <a:p>
            <a:pPr indent="-211137" lvl="2" marL="461962" rtl="0" algn="l">
              <a:spcBef>
                <a:spcPts val="600"/>
              </a:spcBef>
              <a:spcAft>
                <a:spcPts val="0"/>
              </a:spcAft>
              <a:buSzPts val="2000"/>
              <a:buChar char="−"/>
            </a:pPr>
            <a:r>
              <a:rPr lang="en" sz="2000"/>
              <a:t>Each color corresponds to a machine register</a:t>
            </a:r>
            <a:endParaRPr sz="2000"/>
          </a:p>
          <a:p>
            <a:pPr indent="-174625" lvl="1" marL="225425" rtl="0" algn="l">
              <a:spcBef>
                <a:spcPts val="2000"/>
              </a:spcBef>
              <a:spcAft>
                <a:spcPts val="0"/>
              </a:spcAft>
              <a:buSzPts val="2000"/>
              <a:buChar char="▪"/>
            </a:pPr>
            <a:r>
              <a:rPr lang="en" sz="2000"/>
              <a:t>Goal: assign registers without conflict</a:t>
            </a:r>
            <a:endParaRPr sz="2000"/>
          </a:p>
          <a:p>
            <a:pPr indent="-174625" lvl="1" marL="225425" rtl="0" algn="l">
              <a:spcBef>
                <a:spcPts val="2000"/>
              </a:spcBef>
              <a:spcAft>
                <a:spcPts val="0"/>
              </a:spcAft>
              <a:buSzPts val="2000"/>
              <a:buChar char="▪"/>
            </a:pPr>
            <a:r>
              <a:rPr lang="en" sz="2000"/>
              <a:t>If registers are limited → spilling to memory occur</a:t>
            </a:r>
            <a:endParaRPr sz="2000"/>
          </a:p>
        </p:txBody>
      </p:sp>
      <p:pic>
        <p:nvPicPr>
          <p:cNvPr id="175" name="Google Shape;175;p30"/>
          <p:cNvPicPr preferRelativeResize="0"/>
          <p:nvPr/>
        </p:nvPicPr>
        <p:blipFill>
          <a:blip r:embed="rId3">
            <a:alphaModFix/>
          </a:blip>
          <a:stretch>
            <a:fillRect/>
          </a:stretch>
        </p:blipFill>
        <p:spPr>
          <a:xfrm>
            <a:off x="6858000" y="596788"/>
            <a:ext cx="2286000" cy="2028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idx="2" type="body"/>
          </p:nvPr>
        </p:nvSpPr>
        <p:spPr>
          <a:xfrm>
            <a:off x="224416" y="202609"/>
            <a:ext cx="8324700" cy="394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9EA2A2"/>
              </a:buClr>
              <a:buSzPts val="1800"/>
              <a:buFont typeface="Arial"/>
              <a:buNone/>
            </a:pPr>
            <a:r>
              <a:rPr lang="en"/>
              <a:t>Experiment</a:t>
            </a:r>
            <a:endParaRPr/>
          </a:p>
          <a:p>
            <a:pPr indent="0" lvl="0" marL="0" rtl="0" algn="l">
              <a:spcBef>
                <a:spcPts val="0"/>
              </a:spcBef>
              <a:spcAft>
                <a:spcPts val="0"/>
              </a:spcAft>
              <a:buClr>
                <a:srgbClr val="9EA2A2"/>
              </a:buClr>
              <a:buSzPts val="1800"/>
              <a:buFont typeface="Arial"/>
              <a:buNone/>
            </a:pPr>
            <a:r>
              <a:t/>
            </a:r>
            <a:endParaRPr/>
          </a:p>
        </p:txBody>
      </p:sp>
      <p:sp>
        <p:nvSpPr>
          <p:cNvPr id="182" name="Google Shape;182;p31"/>
          <p:cNvSpPr txBox="1"/>
          <p:nvPr>
            <p:ph idx="1" type="body"/>
          </p:nvPr>
        </p:nvSpPr>
        <p:spPr>
          <a:xfrm>
            <a:off x="0" y="596800"/>
            <a:ext cx="9087600" cy="3995700"/>
          </a:xfrm>
          <a:prstGeom prst="rect">
            <a:avLst/>
          </a:prstGeom>
          <a:noFill/>
          <a:ln>
            <a:noFill/>
          </a:ln>
        </p:spPr>
        <p:txBody>
          <a:bodyPr anchorCtr="0" anchor="t" bIns="45700" lIns="91425" spcFirstLastPara="1" rIns="91425" wrap="square" tIns="45700">
            <a:noAutofit/>
          </a:bodyPr>
          <a:lstStyle/>
          <a:p>
            <a:pPr indent="-174625" lvl="1" marL="225425" rtl="0" algn="l">
              <a:spcBef>
                <a:spcPts val="2000"/>
              </a:spcBef>
              <a:spcAft>
                <a:spcPts val="0"/>
              </a:spcAft>
              <a:buSzPts val="2000"/>
              <a:buChar char="▪"/>
            </a:pPr>
            <a:r>
              <a:rPr lang="en" sz="2000"/>
              <a:t>Objective:</a:t>
            </a:r>
            <a:endParaRPr sz="2000"/>
          </a:p>
          <a:p>
            <a:pPr indent="-211137" lvl="2" marL="461962" rtl="0" algn="l">
              <a:spcBef>
                <a:spcPts val="600"/>
              </a:spcBef>
              <a:spcAft>
                <a:spcPts val="0"/>
              </a:spcAft>
              <a:buSzPts val="2000"/>
              <a:buChar char="−"/>
            </a:pPr>
            <a:r>
              <a:rPr lang="en" sz="2000"/>
              <a:t>Meta-study of graph coloring algorithms:</a:t>
            </a:r>
            <a:endParaRPr sz="2000"/>
          </a:p>
          <a:p>
            <a:pPr indent="-211137" lvl="2" marL="461962" rtl="0" algn="l">
              <a:spcBef>
                <a:spcPts val="600"/>
              </a:spcBef>
              <a:spcAft>
                <a:spcPts val="0"/>
              </a:spcAft>
              <a:buSzPts val="2000"/>
              <a:buChar char="−"/>
            </a:pPr>
            <a:r>
              <a:rPr lang="en" sz="2000"/>
              <a:t>Compare advantages, disadvantages, execution speed, solution quality, training time</a:t>
            </a:r>
            <a:endParaRPr sz="2000"/>
          </a:p>
          <a:p>
            <a:pPr indent="-211137" lvl="2" marL="461962" rtl="0" algn="l">
              <a:spcBef>
                <a:spcPts val="600"/>
              </a:spcBef>
              <a:spcAft>
                <a:spcPts val="0"/>
              </a:spcAft>
              <a:buSzPts val="2000"/>
              <a:buChar char="−"/>
            </a:pPr>
            <a:r>
              <a:rPr lang="en" sz="2000"/>
              <a:t>Explore learning-based approaches using GNNs and Graph Transformers</a:t>
            </a:r>
            <a:endParaRPr sz="2000"/>
          </a:p>
          <a:p>
            <a:pPr indent="-174625" lvl="1" marL="225425" rtl="0" algn="l">
              <a:spcBef>
                <a:spcPts val="2000"/>
              </a:spcBef>
              <a:spcAft>
                <a:spcPts val="0"/>
              </a:spcAft>
              <a:buSzPts val="2000"/>
              <a:buChar char="▪"/>
            </a:pPr>
            <a:r>
              <a:rPr lang="en" sz="2000"/>
              <a:t>Research Question:</a:t>
            </a:r>
            <a:endParaRPr sz="2000"/>
          </a:p>
          <a:p>
            <a:pPr indent="-211137" lvl="2" marL="461962" rtl="0" algn="l">
              <a:spcBef>
                <a:spcPts val="600"/>
              </a:spcBef>
              <a:spcAft>
                <a:spcPts val="0"/>
              </a:spcAft>
              <a:buSzPts val="2000"/>
              <a:buChar char="−"/>
            </a:pPr>
            <a:r>
              <a:rPr lang="en" sz="2000"/>
              <a:t>Can a GNN or Graph Transformer learn graph structure to find faster or more optimal colorings?</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Current Status</a:t>
            </a:r>
            <a:endParaRPr/>
          </a:p>
        </p:txBody>
      </p:sp>
      <p:sp>
        <p:nvSpPr>
          <p:cNvPr id="188" name="Google Shape;188;p32"/>
          <p:cNvSpPr txBox="1"/>
          <p:nvPr>
            <p:ph idx="1" type="body"/>
          </p:nvPr>
        </p:nvSpPr>
        <p:spPr>
          <a:xfrm>
            <a:off x="224425" y="778116"/>
            <a:ext cx="7183200" cy="3814500"/>
          </a:xfrm>
          <a:prstGeom prst="rect">
            <a:avLst/>
          </a:prstGeom>
          <a:noFill/>
          <a:ln>
            <a:noFill/>
          </a:ln>
        </p:spPr>
        <p:txBody>
          <a:bodyPr anchorCtr="0" anchor="t" bIns="45700" lIns="91425" spcFirstLastPara="1" rIns="91425" wrap="square" tIns="45700">
            <a:noAutofit/>
          </a:bodyPr>
          <a:lstStyle/>
          <a:p>
            <a:pPr indent="-174625" lvl="1" marL="225425" rtl="0" algn="l">
              <a:spcBef>
                <a:spcPts val="2000"/>
              </a:spcBef>
              <a:spcAft>
                <a:spcPts val="0"/>
              </a:spcAft>
              <a:buSzPts val="2000"/>
              <a:buChar char="▪"/>
            </a:pPr>
            <a:r>
              <a:rPr lang="en" sz="2000"/>
              <a:t>Models identified and acquired:</a:t>
            </a:r>
            <a:endParaRPr sz="2000"/>
          </a:p>
          <a:p>
            <a:pPr indent="-211137" lvl="2" marL="461962" rtl="0" algn="l">
              <a:spcBef>
                <a:spcPts val="600"/>
              </a:spcBef>
              <a:spcAft>
                <a:spcPts val="0"/>
              </a:spcAft>
              <a:buSzPts val="2000"/>
              <a:buChar char="−"/>
            </a:pPr>
            <a:r>
              <a:rPr lang="en" sz="2000"/>
              <a:t>GNN</a:t>
            </a:r>
            <a:endParaRPr sz="2000"/>
          </a:p>
          <a:p>
            <a:pPr indent="-211137" lvl="2" marL="461962" rtl="0" algn="l">
              <a:spcBef>
                <a:spcPts val="600"/>
              </a:spcBef>
              <a:spcAft>
                <a:spcPts val="0"/>
              </a:spcAft>
              <a:buSzPts val="2000"/>
              <a:buChar char="−"/>
            </a:pPr>
            <a:r>
              <a:rPr lang="en" sz="2000"/>
              <a:t>RNN</a:t>
            </a:r>
            <a:endParaRPr sz="2000"/>
          </a:p>
          <a:p>
            <a:pPr indent="-174625" lvl="1" marL="225425" rtl="0" algn="l">
              <a:spcBef>
                <a:spcPts val="640"/>
              </a:spcBef>
              <a:spcAft>
                <a:spcPts val="0"/>
              </a:spcAft>
              <a:buSzPts val="2000"/>
              <a:buChar char="▪"/>
            </a:pPr>
            <a:r>
              <a:rPr lang="en" sz="2000"/>
              <a:t>Non-NN algorithms:</a:t>
            </a:r>
            <a:endParaRPr sz="2000"/>
          </a:p>
          <a:p>
            <a:pPr indent="-211137" lvl="2" marL="461962" rtl="0" algn="l">
              <a:spcBef>
                <a:spcPts val="400"/>
              </a:spcBef>
              <a:spcAft>
                <a:spcPts val="0"/>
              </a:spcAft>
              <a:buSzPts val="2000"/>
              <a:buChar char="−"/>
            </a:pPr>
            <a:r>
              <a:rPr lang="en" sz="2000"/>
              <a:t>Independent sets</a:t>
            </a:r>
            <a:endParaRPr sz="2000"/>
          </a:p>
          <a:p>
            <a:pPr indent="-211137" lvl="2" marL="461962" rtl="0" algn="l">
              <a:spcBef>
                <a:spcPts val="400"/>
              </a:spcBef>
              <a:spcAft>
                <a:spcPts val="0"/>
              </a:spcAft>
              <a:buSzPts val="2000"/>
              <a:buChar char="−"/>
            </a:pPr>
            <a:r>
              <a:rPr lang="en" sz="2000"/>
              <a:t>Greedy coloring</a:t>
            </a:r>
            <a:endParaRPr sz="2000"/>
          </a:p>
        </p:txBody>
      </p:sp>
      <p:pic>
        <p:nvPicPr>
          <p:cNvPr descr="Parallel Graph Coloring Algorithms and an Implementation of Jones-Plassmann  – IreneLi" id="189" name="Google Shape;189;p32"/>
          <p:cNvPicPr preferRelativeResize="0"/>
          <p:nvPr/>
        </p:nvPicPr>
        <p:blipFill>
          <a:blip r:embed="rId3">
            <a:alphaModFix/>
          </a:blip>
          <a:stretch>
            <a:fillRect/>
          </a:stretch>
        </p:blipFill>
        <p:spPr>
          <a:xfrm>
            <a:off x="516750" y="3009250"/>
            <a:ext cx="3678150" cy="1649425"/>
          </a:xfrm>
          <a:prstGeom prst="rect">
            <a:avLst/>
          </a:prstGeom>
          <a:noFill/>
          <a:ln>
            <a:noFill/>
          </a:ln>
        </p:spPr>
      </p:pic>
      <p:pic>
        <p:nvPicPr>
          <p:cNvPr id="190" name="Google Shape;190;p32"/>
          <p:cNvPicPr preferRelativeResize="0"/>
          <p:nvPr/>
        </p:nvPicPr>
        <p:blipFill>
          <a:blip r:embed="rId4">
            <a:alphaModFix/>
          </a:blip>
          <a:stretch>
            <a:fillRect/>
          </a:stretch>
        </p:blipFill>
        <p:spPr>
          <a:xfrm>
            <a:off x="4681775" y="971552"/>
            <a:ext cx="3816801" cy="2248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Current Status</a:t>
            </a:r>
            <a:endParaRPr/>
          </a:p>
        </p:txBody>
      </p:sp>
      <p:sp>
        <p:nvSpPr>
          <p:cNvPr id="196" name="Google Shape;196;p33"/>
          <p:cNvSpPr txBox="1"/>
          <p:nvPr>
            <p:ph idx="1" type="body"/>
          </p:nvPr>
        </p:nvSpPr>
        <p:spPr>
          <a:xfrm>
            <a:off x="224425" y="778116"/>
            <a:ext cx="7183200" cy="3814500"/>
          </a:xfrm>
          <a:prstGeom prst="rect">
            <a:avLst/>
          </a:prstGeom>
          <a:noFill/>
          <a:ln>
            <a:noFill/>
          </a:ln>
        </p:spPr>
        <p:txBody>
          <a:bodyPr anchorCtr="0" anchor="t" bIns="45700" lIns="91425" spcFirstLastPara="1" rIns="91425" wrap="square" tIns="45700">
            <a:noAutofit/>
          </a:bodyPr>
          <a:lstStyle/>
          <a:p>
            <a:pPr indent="-174625" lvl="1" marL="225425" rtl="0" algn="l">
              <a:spcBef>
                <a:spcPts val="2000"/>
              </a:spcBef>
              <a:spcAft>
                <a:spcPts val="0"/>
              </a:spcAft>
              <a:buSzPts val="2000"/>
              <a:buChar char="▪"/>
            </a:pPr>
            <a:r>
              <a:rPr lang="en" sz="2000"/>
              <a:t>Datasets:</a:t>
            </a:r>
            <a:endParaRPr sz="2000"/>
          </a:p>
          <a:p>
            <a:pPr indent="-211137" lvl="2" marL="461962" rtl="0" algn="l">
              <a:spcBef>
                <a:spcPts val="600"/>
              </a:spcBef>
              <a:spcAft>
                <a:spcPts val="0"/>
              </a:spcAft>
              <a:buSzPts val="2000"/>
              <a:buChar char="−"/>
            </a:pPr>
            <a:r>
              <a:rPr lang="en" sz="2000"/>
              <a:t>Carnegie Mellon graph repository</a:t>
            </a:r>
            <a:endParaRPr sz="2000"/>
          </a:p>
          <a:p>
            <a:pPr indent="-211137" lvl="2" marL="461962" rtl="0" algn="l">
              <a:spcBef>
                <a:spcPts val="600"/>
              </a:spcBef>
              <a:spcAft>
                <a:spcPts val="0"/>
              </a:spcAft>
              <a:buSzPts val="2000"/>
              <a:buChar char="−"/>
            </a:pPr>
            <a:r>
              <a:rPr lang="en" sz="2000"/>
              <a:t>R-MAT/Erdös-Renyí random graph generation</a:t>
            </a:r>
            <a:endParaRPr sz="2000"/>
          </a:p>
          <a:p>
            <a:pPr indent="-174625" lvl="1" marL="225425" rtl="0" algn="l">
              <a:spcBef>
                <a:spcPts val="2000"/>
              </a:spcBef>
              <a:spcAft>
                <a:spcPts val="0"/>
              </a:spcAft>
              <a:buSzPts val="2000"/>
              <a:buChar char="▪"/>
            </a:pPr>
            <a:r>
              <a:rPr lang="en" sz="2000"/>
              <a:t>Specific to our focus:</a:t>
            </a:r>
            <a:endParaRPr sz="2000"/>
          </a:p>
          <a:p>
            <a:pPr indent="-211137" lvl="2" marL="461962" rtl="0" algn="l">
              <a:spcBef>
                <a:spcPts val="600"/>
              </a:spcBef>
              <a:spcAft>
                <a:spcPts val="0"/>
              </a:spcAft>
              <a:buSzPts val="2000"/>
              <a:buChar char="−"/>
            </a:pPr>
            <a:r>
              <a:rPr lang="en" sz="2000"/>
              <a:t>Program → interference graph generators</a:t>
            </a:r>
            <a:endParaRPr sz="2000"/>
          </a:p>
        </p:txBody>
      </p:sp>
      <p:pic>
        <p:nvPicPr>
          <p:cNvPr id="197" name="Google Shape;197;p33"/>
          <p:cNvPicPr preferRelativeResize="0"/>
          <p:nvPr/>
        </p:nvPicPr>
        <p:blipFill>
          <a:blip r:embed="rId3">
            <a:alphaModFix/>
          </a:blip>
          <a:stretch>
            <a:fillRect/>
          </a:stretch>
        </p:blipFill>
        <p:spPr>
          <a:xfrm>
            <a:off x="1078425" y="2913600"/>
            <a:ext cx="4974000" cy="1762600"/>
          </a:xfrm>
          <a:prstGeom prst="rect">
            <a:avLst/>
          </a:prstGeom>
          <a:noFill/>
          <a:ln>
            <a:noFill/>
          </a:ln>
        </p:spPr>
      </p:pic>
      <p:pic>
        <p:nvPicPr>
          <p:cNvPr id="198" name="Google Shape;198;p33"/>
          <p:cNvPicPr preferRelativeResize="0"/>
          <p:nvPr/>
        </p:nvPicPr>
        <p:blipFill>
          <a:blip r:embed="rId4">
            <a:alphaModFix/>
          </a:blip>
          <a:stretch>
            <a:fillRect/>
          </a:stretch>
        </p:blipFill>
        <p:spPr>
          <a:xfrm>
            <a:off x="6275350" y="1719537"/>
            <a:ext cx="2273775" cy="1931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Current Status</a:t>
            </a:r>
            <a:endParaRPr/>
          </a:p>
        </p:txBody>
      </p:sp>
      <p:sp>
        <p:nvSpPr>
          <p:cNvPr id="204" name="Google Shape;204;p34"/>
          <p:cNvSpPr txBox="1"/>
          <p:nvPr>
            <p:ph idx="1" type="body"/>
          </p:nvPr>
        </p:nvSpPr>
        <p:spPr>
          <a:xfrm>
            <a:off x="224425" y="778116"/>
            <a:ext cx="7183200" cy="3814500"/>
          </a:xfrm>
          <a:prstGeom prst="rect">
            <a:avLst/>
          </a:prstGeom>
          <a:noFill/>
          <a:ln>
            <a:noFill/>
          </a:ln>
        </p:spPr>
        <p:txBody>
          <a:bodyPr anchorCtr="0" anchor="t" bIns="45700" lIns="91425" spcFirstLastPara="1" rIns="91425" wrap="square" tIns="45700">
            <a:noAutofit/>
          </a:bodyPr>
          <a:lstStyle/>
          <a:p>
            <a:pPr indent="-174625" lvl="1" marL="225425" rtl="0" algn="l">
              <a:spcBef>
                <a:spcPts val="2000"/>
              </a:spcBef>
              <a:spcAft>
                <a:spcPts val="0"/>
              </a:spcAft>
              <a:buSzPts val="2000"/>
              <a:buChar char="▪"/>
            </a:pPr>
            <a:r>
              <a:rPr lang="en" sz="2000"/>
              <a:t>Metrics:</a:t>
            </a:r>
            <a:endParaRPr sz="2000"/>
          </a:p>
          <a:p>
            <a:pPr indent="-211137" lvl="2" marL="461962" rtl="0" algn="l">
              <a:spcBef>
                <a:spcPts val="600"/>
              </a:spcBef>
              <a:spcAft>
                <a:spcPts val="0"/>
              </a:spcAft>
              <a:buSzPts val="2000"/>
              <a:buChar char="−"/>
            </a:pPr>
            <a:r>
              <a:rPr lang="en" sz="2000"/>
              <a:t>Execution time</a:t>
            </a:r>
            <a:endParaRPr sz="2000"/>
          </a:p>
          <a:p>
            <a:pPr indent="-211137" lvl="2" marL="461962" rtl="0" algn="l">
              <a:spcBef>
                <a:spcPts val="600"/>
              </a:spcBef>
              <a:spcAft>
                <a:spcPts val="0"/>
              </a:spcAft>
              <a:buSzPts val="2000"/>
              <a:buChar char="−"/>
            </a:pPr>
            <a:r>
              <a:rPr lang="en" sz="2000"/>
              <a:t>Coloring quality (number of colors needed)</a:t>
            </a:r>
            <a:endParaRPr sz="2000"/>
          </a:p>
          <a:p>
            <a:pPr indent="-174625" lvl="1" marL="225425" rtl="0" algn="l">
              <a:spcBef>
                <a:spcPts val="600"/>
              </a:spcBef>
              <a:spcAft>
                <a:spcPts val="0"/>
              </a:spcAft>
              <a:buSzPts val="2000"/>
              <a:buFont typeface="Arial"/>
              <a:buChar char="▪"/>
            </a:pPr>
            <a:r>
              <a:rPr lang="en" sz="2000"/>
              <a:t>NN Specific:</a:t>
            </a:r>
            <a:endParaRPr sz="2000"/>
          </a:p>
          <a:p>
            <a:pPr indent="-211137" lvl="2" marL="461962" rtl="0" algn="l">
              <a:spcBef>
                <a:spcPts val="600"/>
              </a:spcBef>
              <a:spcAft>
                <a:spcPts val="0"/>
              </a:spcAft>
              <a:buSzPts val="2000"/>
              <a:buFont typeface="Arial"/>
              <a:buChar char="−"/>
            </a:pPr>
            <a:r>
              <a:rPr lang="en" sz="2000"/>
              <a:t>Training overhead</a:t>
            </a:r>
            <a:endParaRPr sz="2000"/>
          </a:p>
          <a:p>
            <a:pPr indent="-211137" lvl="2" marL="461962" rtl="0" algn="l">
              <a:spcBef>
                <a:spcPts val="600"/>
              </a:spcBef>
              <a:spcAft>
                <a:spcPts val="0"/>
              </a:spcAft>
              <a:buSzPts val="2000"/>
              <a:buChar char="−"/>
            </a:pPr>
            <a:r>
              <a:rPr lang="en" sz="2000"/>
              <a:t>Correctness</a:t>
            </a:r>
            <a:endParaRPr sz="2000"/>
          </a:p>
          <a:p>
            <a:pPr indent="0" lvl="0" marL="0" rtl="0" algn="l">
              <a:spcBef>
                <a:spcPts val="640"/>
              </a:spcBef>
              <a:spcAft>
                <a:spcPts val="0"/>
              </a:spcAft>
              <a:buNone/>
            </a:pPr>
            <a:r>
              <a:t/>
            </a:r>
            <a:endParaRPr sz="2000"/>
          </a:p>
        </p:txBody>
      </p:sp>
      <p:pic>
        <p:nvPicPr>
          <p:cNvPr id="205" name="Google Shape;205;p34"/>
          <p:cNvPicPr preferRelativeResize="0"/>
          <p:nvPr/>
        </p:nvPicPr>
        <p:blipFill>
          <a:blip r:embed="rId3">
            <a:alphaModFix/>
          </a:blip>
          <a:stretch>
            <a:fillRect/>
          </a:stretch>
        </p:blipFill>
        <p:spPr>
          <a:xfrm>
            <a:off x="3530000" y="2039675"/>
            <a:ext cx="4479501" cy="2395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Next Steps: Interference Graph</a:t>
            </a:r>
            <a:endParaRPr/>
          </a:p>
        </p:txBody>
      </p:sp>
      <p:pic>
        <p:nvPicPr>
          <p:cNvPr id="211" name="Google Shape;211;p35" title="Airbrush-Image-Enhancer-1761189040016.jpg"/>
          <p:cNvPicPr preferRelativeResize="0"/>
          <p:nvPr/>
        </p:nvPicPr>
        <p:blipFill>
          <a:blip r:embed="rId3">
            <a:alphaModFix/>
          </a:blip>
          <a:stretch>
            <a:fillRect/>
          </a:stretch>
        </p:blipFill>
        <p:spPr>
          <a:xfrm>
            <a:off x="290150" y="798350"/>
            <a:ext cx="8563702" cy="3826075"/>
          </a:xfrm>
          <a:prstGeom prst="rect">
            <a:avLst/>
          </a:prstGeom>
          <a:noFill/>
          <a:ln>
            <a:noFill/>
          </a:ln>
        </p:spPr>
      </p:pic>
      <p:sp>
        <p:nvSpPr>
          <p:cNvPr id="212" name="Google Shape;212;p35"/>
          <p:cNvSpPr/>
          <p:nvPr/>
        </p:nvSpPr>
        <p:spPr>
          <a:xfrm>
            <a:off x="3983175" y="1437400"/>
            <a:ext cx="1541400" cy="762000"/>
          </a:xfrm>
          <a:prstGeom prst="rect">
            <a:avLst/>
          </a:prstGeom>
          <a:noFill/>
          <a:ln cap="flat" cmpd="sng" w="38100">
            <a:solidFill>
              <a:srgbClr val="D600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Next Steps: Interference Graph </a:t>
            </a:r>
            <a:endParaRPr/>
          </a:p>
        </p:txBody>
      </p:sp>
      <p:pic>
        <p:nvPicPr>
          <p:cNvPr id="218" name="Google Shape;218;p36"/>
          <p:cNvPicPr preferRelativeResize="0"/>
          <p:nvPr/>
        </p:nvPicPr>
        <p:blipFill>
          <a:blip r:embed="rId3">
            <a:alphaModFix/>
          </a:blip>
          <a:stretch>
            <a:fillRect/>
          </a:stretch>
        </p:blipFill>
        <p:spPr>
          <a:xfrm>
            <a:off x="983588" y="860539"/>
            <a:ext cx="7176825" cy="34224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Interference Graph Construction </a:t>
            </a:r>
            <a:endParaRPr/>
          </a:p>
        </p:txBody>
      </p:sp>
      <p:pic>
        <p:nvPicPr>
          <p:cNvPr id="224" name="Google Shape;224;p37"/>
          <p:cNvPicPr preferRelativeResize="0"/>
          <p:nvPr/>
        </p:nvPicPr>
        <p:blipFill>
          <a:blip r:embed="rId3">
            <a:alphaModFix/>
          </a:blip>
          <a:stretch>
            <a:fillRect/>
          </a:stretch>
        </p:blipFill>
        <p:spPr>
          <a:xfrm>
            <a:off x="304799" y="793750"/>
            <a:ext cx="1915125" cy="3756325"/>
          </a:xfrm>
          <a:prstGeom prst="rect">
            <a:avLst/>
          </a:prstGeom>
          <a:noFill/>
          <a:ln>
            <a:noFill/>
          </a:ln>
        </p:spPr>
      </p:pic>
      <p:pic>
        <p:nvPicPr>
          <p:cNvPr id="225" name="Google Shape;225;p37"/>
          <p:cNvPicPr preferRelativeResize="0"/>
          <p:nvPr/>
        </p:nvPicPr>
        <p:blipFill>
          <a:blip r:embed="rId4">
            <a:alphaModFix/>
          </a:blip>
          <a:stretch>
            <a:fillRect/>
          </a:stretch>
        </p:blipFill>
        <p:spPr>
          <a:xfrm>
            <a:off x="2596275" y="793750"/>
            <a:ext cx="2513950" cy="3756325"/>
          </a:xfrm>
          <a:prstGeom prst="rect">
            <a:avLst/>
          </a:prstGeom>
          <a:noFill/>
          <a:ln>
            <a:noFill/>
          </a:ln>
        </p:spPr>
      </p:pic>
      <p:sp>
        <p:nvSpPr>
          <p:cNvPr id="226" name="Google Shape;226;p37"/>
          <p:cNvSpPr txBox="1"/>
          <p:nvPr/>
        </p:nvSpPr>
        <p:spPr>
          <a:xfrm>
            <a:off x="4980350" y="793738"/>
            <a:ext cx="3852000" cy="33192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LLVM generates an </a:t>
            </a:r>
            <a:r>
              <a:rPr b="1" lang="en" sz="2000"/>
              <a:t>IR file</a:t>
            </a:r>
            <a:endParaRPr b="1" sz="2000"/>
          </a:p>
          <a:p>
            <a:pPr indent="-355600" lvl="1" marL="914400" rtl="0" algn="l">
              <a:spcBef>
                <a:spcPts val="0"/>
              </a:spcBef>
              <a:spcAft>
                <a:spcPts val="0"/>
              </a:spcAft>
              <a:buSzPts val="2000"/>
              <a:buChar char="○"/>
            </a:pPr>
            <a:r>
              <a:rPr lang="en" sz="2000"/>
              <a:t>Uses static single assignment (</a:t>
            </a:r>
            <a:r>
              <a:rPr i="1" lang="en" sz="2000"/>
              <a:t>SSA</a:t>
            </a:r>
            <a:r>
              <a:rPr lang="en" sz="2000"/>
              <a:t>).</a:t>
            </a:r>
            <a:endParaRPr sz="2000"/>
          </a:p>
          <a:p>
            <a:pPr indent="-355600" lvl="1" marL="914400" rtl="0" algn="l">
              <a:spcBef>
                <a:spcPts val="0"/>
              </a:spcBef>
              <a:spcAft>
                <a:spcPts val="0"/>
              </a:spcAft>
              <a:buSzPts val="2000"/>
              <a:buChar char="○"/>
            </a:pPr>
            <a:r>
              <a:rPr i="1" lang="en" sz="2000"/>
              <a:t>Virtual registers</a:t>
            </a:r>
            <a:r>
              <a:rPr lang="en" sz="2000"/>
              <a:t> assigned only once</a:t>
            </a:r>
            <a:endParaRPr sz="2000"/>
          </a:p>
          <a:p>
            <a:pPr indent="-355600" lvl="1" marL="914400" rtl="0" algn="l">
              <a:spcBef>
                <a:spcPts val="0"/>
              </a:spcBef>
              <a:spcAft>
                <a:spcPts val="0"/>
              </a:spcAft>
              <a:buSzPts val="2000"/>
              <a:buChar char="○"/>
            </a:pPr>
            <a:r>
              <a:rPr lang="en" sz="2000"/>
              <a:t>Registers that </a:t>
            </a:r>
            <a:r>
              <a:rPr b="1" lang="en" sz="2000"/>
              <a:t>overlap </a:t>
            </a:r>
            <a:r>
              <a:rPr lang="en" sz="2000"/>
              <a:t>receive an edge</a:t>
            </a:r>
            <a:endParaRPr sz="2000"/>
          </a:p>
          <a:p>
            <a:pPr indent="0" lvl="0" marL="914400" rtl="0" algn="l">
              <a:spcBef>
                <a:spcPts val="0"/>
              </a:spcBef>
              <a:spcAft>
                <a:spcPts val="0"/>
              </a:spcAft>
              <a:buNone/>
            </a:pPr>
            <a:r>
              <a:t/>
            </a:r>
            <a:endParaRPr sz="2000"/>
          </a:p>
          <a:p>
            <a:pPr indent="-355600" lvl="0" marL="457200" rtl="0" algn="l">
              <a:spcBef>
                <a:spcPts val="0"/>
              </a:spcBef>
              <a:spcAft>
                <a:spcPts val="0"/>
              </a:spcAft>
              <a:buSzPts val="2000"/>
              <a:buChar char="●"/>
            </a:pPr>
            <a:r>
              <a:rPr lang="en" sz="2000"/>
              <a:t>φ-Nodes collect additional information about spill cost</a:t>
            </a:r>
            <a:endParaRPr sz="2000"/>
          </a:p>
          <a:p>
            <a:pPr indent="-355600" lvl="1" marL="914400" rtl="0" algn="l">
              <a:spcBef>
                <a:spcPts val="0"/>
              </a:spcBef>
              <a:spcAft>
                <a:spcPts val="0"/>
              </a:spcAft>
              <a:buSzPts val="2000"/>
              <a:buChar char="○"/>
            </a:pPr>
            <a:r>
              <a:rPr lang="en" sz="2000"/>
              <a:t>Indicate what can </a:t>
            </a:r>
            <a:r>
              <a:rPr b="1" lang="en" sz="2000"/>
              <a:t>share registers in loops</a:t>
            </a:r>
            <a:endParaRPr b="1"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TODO List</a:t>
            </a:r>
            <a:endParaRPr/>
          </a:p>
        </p:txBody>
      </p:sp>
      <p:sp>
        <p:nvSpPr>
          <p:cNvPr id="232" name="Google Shape;232;p38"/>
          <p:cNvSpPr txBox="1"/>
          <p:nvPr/>
        </p:nvSpPr>
        <p:spPr>
          <a:xfrm>
            <a:off x="353525" y="678588"/>
            <a:ext cx="4459500" cy="1908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Continue searching for existing deep coloring methods</a:t>
            </a:r>
            <a:endParaRPr sz="1600"/>
          </a:p>
          <a:p>
            <a:pPr indent="-330200" lvl="1" marL="914400" rtl="0" algn="l">
              <a:spcBef>
                <a:spcPts val="0"/>
              </a:spcBef>
              <a:spcAft>
                <a:spcPts val="0"/>
              </a:spcAft>
              <a:buSzPts val="1600"/>
              <a:buChar char="○"/>
            </a:pPr>
            <a:r>
              <a:rPr b="1" lang="en" sz="1600"/>
              <a:t>LSTM graph coloring</a:t>
            </a:r>
            <a:r>
              <a:rPr lang="en" sz="1600"/>
              <a:t> shows promise</a:t>
            </a:r>
            <a:endParaRPr sz="1600"/>
          </a:p>
          <a:p>
            <a:pPr indent="-330200" lvl="0" marL="457200" rtl="0" algn="l">
              <a:spcBef>
                <a:spcPts val="0"/>
              </a:spcBef>
              <a:spcAft>
                <a:spcPts val="0"/>
              </a:spcAft>
              <a:buSzPts val="1600"/>
              <a:buChar char="●"/>
            </a:pPr>
            <a:r>
              <a:rPr lang="en" sz="1600"/>
              <a:t>Implement standard and naive graph coloring algorithms as baseline</a:t>
            </a:r>
            <a:endParaRPr sz="1600"/>
          </a:p>
          <a:p>
            <a:pPr indent="-330200" lvl="0" marL="457200" rtl="0" algn="l">
              <a:spcBef>
                <a:spcPts val="0"/>
              </a:spcBef>
              <a:spcAft>
                <a:spcPts val="0"/>
              </a:spcAft>
              <a:buSzPts val="1600"/>
              <a:buChar char="●"/>
            </a:pPr>
            <a:r>
              <a:rPr lang="en" sz="1600"/>
              <a:t>Design, train, and evaluate supervised models (Adopt current GNN models)</a:t>
            </a:r>
            <a:endParaRPr sz="1600"/>
          </a:p>
        </p:txBody>
      </p:sp>
      <p:pic>
        <p:nvPicPr>
          <p:cNvPr id="233" name="Google Shape;233;p38"/>
          <p:cNvPicPr preferRelativeResize="0"/>
          <p:nvPr/>
        </p:nvPicPr>
        <p:blipFill>
          <a:blip r:embed="rId3">
            <a:alphaModFix/>
          </a:blip>
          <a:stretch>
            <a:fillRect/>
          </a:stretch>
        </p:blipFill>
        <p:spPr>
          <a:xfrm>
            <a:off x="5252225" y="663875"/>
            <a:ext cx="3833100" cy="3414450"/>
          </a:xfrm>
          <a:prstGeom prst="rect">
            <a:avLst/>
          </a:prstGeom>
          <a:noFill/>
          <a:ln>
            <a:noFill/>
          </a:ln>
        </p:spPr>
      </p:pic>
      <p:pic>
        <p:nvPicPr>
          <p:cNvPr id="234" name="Google Shape;234;p38"/>
          <p:cNvPicPr preferRelativeResize="0"/>
          <p:nvPr/>
        </p:nvPicPr>
        <p:blipFill>
          <a:blip r:embed="rId4">
            <a:alphaModFix/>
          </a:blip>
          <a:stretch>
            <a:fillRect/>
          </a:stretch>
        </p:blipFill>
        <p:spPr>
          <a:xfrm>
            <a:off x="1082375" y="2714925"/>
            <a:ext cx="3730650" cy="2004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2015TemplateColors">
      <a:dk1>
        <a:srgbClr val="000000"/>
      </a:dk1>
      <a:lt1>
        <a:srgbClr val="FFFFFF"/>
      </a:lt1>
      <a:dk2>
        <a:srgbClr val="323232"/>
      </a:dk2>
      <a:lt2>
        <a:srgbClr val="EEECE1"/>
      </a:lt2>
      <a:accent1>
        <a:srgbClr val="D00016"/>
      </a:accent1>
      <a:accent2>
        <a:srgbClr val="32323C"/>
      </a:accent2>
      <a:accent3>
        <a:srgbClr val="B9B5AD"/>
      </a:accent3>
      <a:accent4>
        <a:srgbClr val="325A9C"/>
      </a:accent4>
      <a:accent5>
        <a:srgbClr val="EFE793"/>
      </a:accent5>
      <a:accent6>
        <a:srgbClr val="2F3C6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