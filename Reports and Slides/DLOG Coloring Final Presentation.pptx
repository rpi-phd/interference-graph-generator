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Nunito"/>
      <p:regular r:id="rId27"/>
      <p:bold r:id="rId28"/>
      <p:italic r:id="rId29"/>
      <p:boldItalic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Nuni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font" Target="fonts/Nunito-boldItalic.fntdata"/><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c3739e23e_4_95:notes"/>
          <p:cNvSpPr/>
          <p:nvPr>
            <p:ph idx="2" type="sldImg"/>
          </p:nvPr>
        </p:nvSpPr>
        <p:spPr>
          <a:xfrm>
            <a:off x="398913" y="686112"/>
            <a:ext cx="6060174"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9c3739e23e_4_95:notes"/>
          <p:cNvSpPr txBox="1"/>
          <p:nvPr>
            <p:ph idx="1" type="body"/>
          </p:nvPr>
        </p:nvSpPr>
        <p:spPr>
          <a:xfrm>
            <a:off x="685800" y="4343400"/>
            <a:ext cx="5486400" cy="4114800"/>
          </a:xfrm>
          <a:prstGeom prst="rect">
            <a:avLst/>
          </a:prstGeom>
          <a:noFill/>
          <a:ln>
            <a:noFill/>
          </a:ln>
        </p:spPr>
        <p:txBody>
          <a:bodyPr anchorCtr="0" anchor="t" bIns="45650" lIns="91275" spcFirstLastPara="1" rIns="91275" wrap="square" tIns="45650">
            <a:noAutofit/>
          </a:bodyPr>
          <a:lstStyle/>
          <a:p>
            <a:pPr indent="0" lvl="0" marL="0" rtl="0" algn="l">
              <a:spcBef>
                <a:spcPts val="0"/>
              </a:spcBef>
              <a:spcAft>
                <a:spcPts val="0"/>
              </a:spcAft>
              <a:buNone/>
            </a:pPr>
            <a:r>
              <a:t/>
            </a:r>
            <a:endParaRPr sz="1400"/>
          </a:p>
        </p:txBody>
      </p:sp>
      <p:sp>
        <p:nvSpPr>
          <p:cNvPr id="148" name="Google Shape;148;g39c3739e23e_4_95:notes"/>
          <p:cNvSpPr txBox="1"/>
          <p:nvPr>
            <p:ph idx="12" type="sldNum"/>
          </p:nvPr>
        </p:nvSpPr>
        <p:spPr>
          <a:xfrm>
            <a:off x="3884614" y="8685213"/>
            <a:ext cx="2971800" cy="457200"/>
          </a:xfrm>
          <a:prstGeom prst="rect">
            <a:avLst/>
          </a:prstGeom>
          <a:noFill/>
          <a:ln>
            <a:noFill/>
          </a:ln>
        </p:spPr>
        <p:txBody>
          <a:bodyPr anchorCtr="0" anchor="b" bIns="45650" lIns="91275" spcFirstLastPara="1" rIns="91275" wrap="square" tIns="45650">
            <a:noAutofit/>
          </a:bodyPr>
          <a:lstStyle/>
          <a:p>
            <a:pPr indent="0" lvl="0" marL="0" rtl="0" algn="r">
              <a:spcBef>
                <a:spcPts val="0"/>
              </a:spcBef>
              <a:spcAft>
                <a:spcPts val="0"/>
              </a:spcAft>
              <a:buNone/>
            </a:pPr>
            <a:fld id="{00000000-1234-1234-1234-123412341234}" type="slidenum">
              <a:rPr lang="en" sz="1400"/>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d6d7c7f6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d6d7c7f6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“When we compile C code, the final assembly can look very different even if the program behaves the same. That’s because the compiler is free to optimize aggressively based on its understanding of the programmer’s intent.”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 huge part of this optimization space comes from targeting specific hardware and microarchitectural constraints—things like pipeline behavior, register files, or calling conventions.”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“One of the most important steps in this pipeline is register allocation, which we can frame as a graph-coloring problem: each variable is a node, and edges represent interference.”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 color corresponds to a physical machine register. So the goal is to assign colors in a way that no interfering variables get the same register.”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“Because registers are limited, a poor coloring forces the compiler to spill variables to memory, which is extremely expensive.”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 better coloring—fewer spills, </a:t>
            </a:r>
            <a:r>
              <a:rPr b="1" lang="en">
                <a:solidFill>
                  <a:schemeClr val="dk1"/>
                </a:solidFill>
              </a:rPr>
              <a:t>fewer memory spills</a:t>
            </a:r>
            <a:r>
              <a:rPr b="1" lang="en">
                <a:solidFill>
                  <a:schemeClr val="dk1"/>
                </a:solidFill>
              </a:rPr>
              <a:t>—directly translates to more efficient compiled code.”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d9617da3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d9617da3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chart shows off the costs of spilling variables into lower and lower memories. As you can see if we want the program to execute quickly then we want as many memory access to come from the registers as possible and </a:t>
            </a:r>
            <a:r>
              <a:rPr lang="en"/>
              <a:t>preferably we’d have no accesses from DRAM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c3739e23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c3739e23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Via our literature review, we explored what was currently out there, allowing us to focus in on techniques that work. Above is a generalized workflow for deep graph coloring for register allocation.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step is collecting a wide range of code structures that would allow us to diversify &amp; generalize generated interference graphs, so a model may learn features surrounding </a:t>
            </a:r>
            <a:r>
              <a:rPr lang="en"/>
              <a:t>various</a:t>
            </a:r>
            <a:r>
              <a:rPr lang="en"/>
              <a:t> types of interference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ANIMATE</a:t>
            </a:r>
            <a:endParaRPr b="1"/>
          </a:p>
          <a:p>
            <a:pPr indent="0" lvl="0" marL="0" rtl="0" algn="l">
              <a:spcBef>
                <a:spcPts val="0"/>
              </a:spcBef>
              <a:spcAft>
                <a:spcPts val="0"/>
              </a:spcAft>
              <a:buNone/>
            </a:pPr>
            <a:r>
              <a:rPr lang="en"/>
              <a:t>The second step involves </a:t>
            </a:r>
            <a:r>
              <a:rPr lang="en"/>
              <a:t>developing</a:t>
            </a:r>
            <a:r>
              <a:rPr lang="en"/>
              <a:t> an interference graph generator, which is an LLVM-based approach. An intermediate representation (IR) of the c code is generated, which is an intermediate between source and target languages used by compilers for low-level processing and optimization. This language is perfect for extracting interference information and live states of variables. With this, an interference graph can be produced. The ultimate goal would be curating a large dataset of of </a:t>
            </a:r>
            <a:r>
              <a:rPr lang="en"/>
              <a:t>interference</a:t>
            </a:r>
            <a:r>
              <a:rPr lang="en"/>
              <a:t> graphs such that a training pipeline for a graph coloring model can be initialized.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present in this project the means for developing this dataset via our automated graph generator workflow (Unfortunately we did not get to deep coloring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excited to say this is one of the only complete open source models for developing an interference graph dataset from provided example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LLVM supports C, C++, and even interpreted languages such as Python, Ruby, Swift, etc through just-in-time compiling, so the potential for expanding this project past C is great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Ultimately, we hypothesize that there are embedded </a:t>
            </a:r>
            <a:r>
              <a:rPr lang="en"/>
              <a:t>features in interference graphs generated by code that external generators cannot reproduce, which is commonly used when training coloring models.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c3739e23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c3739e23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recap on </a:t>
            </a:r>
            <a:r>
              <a:rPr lang="en"/>
              <a:t>what the interference graph describes: Neighboring nodes must remain in the active set and therefore must be placed on separate registers (colors)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 j is active the entire time and will likely need a dedicated register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important to notice the “live-in” and “live-out” parts, which will be important when implementing branches or other non-sequential breaks that require an understanding of liveness before an after a sequence of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Previous authors of open source interference graph generators did not take per-block liveness into account, and only considered begin/end declarations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c51e187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c51e187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LLVM allows us to generate our own interference graph dataset. LLVM generates readable intermediate representation files while using static single assignment (generates virtual memory assignments which cannot be reassigned).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Mem2reg assists this by converting memory references to register references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simplifies what instructions are overlapping when, and these virtual registers are the nodes in our graph. Any registers that are live in the same instruction receive an edge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Therefore we can use this knowledge to generate interference graphs from instruction datasets.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definitely over-simplifies, and complexities are added with multi-function sets, branching, non-sequential instructions, and branch dependencies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Specifically, when dealing with phi nodes, often times a loop, they help resolve the issue where virtual registers are only defined once. If a variable has multiple possible incoming values, this must be resolved at compile time. The phi </a:t>
            </a:r>
            <a:r>
              <a:rPr lang="en">
                <a:solidFill>
                  <a:schemeClr val="dk1"/>
                </a:solidFill>
              </a:rPr>
              <a:t>node executes at </a:t>
            </a:r>
            <a:r>
              <a:rPr b="1" lang="en">
                <a:solidFill>
                  <a:schemeClr val="dk1"/>
                </a:solidFill>
              </a:rPr>
              <a:t>run time</a:t>
            </a:r>
            <a:r>
              <a:rPr lang="en">
                <a:solidFill>
                  <a:schemeClr val="dk1"/>
                </a:solidFill>
              </a:rPr>
              <a:t>, but it is resolved </a:t>
            </a:r>
            <a:r>
              <a:rPr b="1" lang="en">
                <a:solidFill>
                  <a:schemeClr val="dk1"/>
                </a:solidFill>
              </a:rPr>
              <a:t>statically by control flow through </a:t>
            </a:r>
            <a:r>
              <a:rPr b="1" lang="en">
                <a:solidFill>
                  <a:schemeClr val="dk1"/>
                </a:solidFill>
              </a:rPr>
              <a:t>assigning</a:t>
            </a:r>
            <a:r>
              <a:rPr b="1" lang="en">
                <a:solidFill>
                  <a:schemeClr val="dk1"/>
                </a:solidFill>
              </a:rPr>
              <a:t> the value given what successor you visited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d61af0d6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d61af0d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look at what LLVM generates, here is an example of a simple sum function being compiled first with LLVM and then the mem2reg optimizer. The function begins at the define keyword.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 lot ot pull from this file which I’ll go over in the next slide, but this is the general outline of a single </a:t>
            </a:r>
            <a:r>
              <a:rPr lang="en"/>
              <a:t>function: begins with keyword define with an immediate branch “br”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d61af0d6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d61af0d6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a:t>
            </a:r>
            <a:r>
              <a:rPr i="1" lang="en">
                <a:solidFill>
                  <a:schemeClr val="dk1"/>
                </a:solidFill>
              </a:rPr>
              <a:t>basic block</a:t>
            </a:r>
            <a:r>
              <a:rPr lang="en">
                <a:solidFill>
                  <a:schemeClr val="dk1"/>
                </a:solidFill>
              </a:rPr>
              <a:t> is the compiler’s fundamental unit of sequential execution.</a:t>
            </a:r>
            <a:br>
              <a:rPr lang="en">
                <a:solidFill>
                  <a:schemeClr val="dk1"/>
                </a:solidFill>
              </a:rPr>
            </a:br>
            <a:r>
              <a:rPr lang="en">
                <a:solidFill>
                  <a:schemeClr val="dk1"/>
                </a:solidFill>
              </a:rPr>
              <a:t> Everything inside a block runs </a:t>
            </a:r>
            <a:r>
              <a:rPr b="1" lang="en">
                <a:solidFill>
                  <a:schemeClr val="dk1"/>
                </a:solidFill>
              </a:rPr>
              <a:t>in order</a:t>
            </a:r>
            <a:r>
              <a:rPr lang="en">
                <a:solidFill>
                  <a:schemeClr val="dk1"/>
                </a:solidFill>
              </a:rPr>
              <a:t>, with no jumps into or out of the middle.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Blocks are identified by a label — here we see </a:t>
            </a:r>
            <a:r>
              <a:rPr lang="en">
                <a:solidFill>
                  <a:srgbClr val="188038"/>
                </a:solidFill>
                <a:latin typeface="Roboto Mono"/>
                <a:ea typeface="Roboto Mono"/>
                <a:cs typeface="Roboto Mono"/>
                <a:sym typeface="Roboto Mono"/>
              </a:rPr>
              <a:t>%3</a:t>
            </a:r>
            <a:r>
              <a:rPr lang="en">
                <a:solidFill>
                  <a:schemeClr val="dk1"/>
                </a:solidFill>
              </a:rPr>
              <a:t>, </a:t>
            </a:r>
            <a:r>
              <a:rPr lang="en">
                <a:solidFill>
                  <a:srgbClr val="188038"/>
                </a:solidFill>
                <a:latin typeface="Roboto Mono"/>
                <a:ea typeface="Roboto Mono"/>
                <a:cs typeface="Roboto Mono"/>
                <a:sym typeface="Roboto Mono"/>
              </a:rPr>
              <a:t>%5</a:t>
            </a:r>
            <a:r>
              <a:rPr lang="en">
                <a:solidFill>
                  <a:schemeClr val="dk1"/>
                </a:solidFill>
              </a:rPr>
              <a:t>, and </a:t>
            </a:r>
            <a:r>
              <a:rPr lang="en">
                <a:solidFill>
                  <a:srgbClr val="188038"/>
                </a:solidFill>
                <a:latin typeface="Roboto Mono"/>
                <a:ea typeface="Roboto Mono"/>
                <a:cs typeface="Roboto Mono"/>
                <a:sym typeface="Roboto Mono"/>
              </a:rPr>
              <a:t>%10</a:t>
            </a:r>
            <a:r>
              <a:rPr lang="en">
                <a:solidFill>
                  <a:schemeClr val="dk1"/>
                </a:solidFill>
              </a:rPr>
              <a:t>.</a:t>
            </a:r>
            <a:br>
              <a:rPr lang="en">
                <a:solidFill>
                  <a:schemeClr val="dk1"/>
                </a:solidFill>
              </a:rPr>
            </a:br>
            <a:r>
              <a:rPr lang="en">
                <a:solidFill>
                  <a:schemeClr val="dk1"/>
                </a:solidFill>
              </a:rPr>
              <a:t> Each block ends in a </a:t>
            </a:r>
            <a:r>
              <a:rPr b="1" lang="en">
                <a:solidFill>
                  <a:schemeClr val="dk1"/>
                </a:solidFill>
              </a:rPr>
              <a:t>terminator</a:t>
            </a:r>
            <a:r>
              <a:rPr lang="en">
                <a:solidFill>
                  <a:schemeClr val="dk1"/>
                </a:solidFill>
              </a:rPr>
              <a:t>, usually a branch, which hands control to the next block.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anytime control flow can diverge, reconverge, or loop, LLVM breaks the program into different labeled blocks.////////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virtual register has two defining properties: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There is an </a:t>
            </a:r>
            <a:r>
              <a:rPr b="1" lang="en">
                <a:solidFill>
                  <a:schemeClr val="dk1"/>
                </a:solidFill>
              </a:rPr>
              <a:t>infinite supply</a:t>
            </a:r>
            <a:r>
              <a:rPr lang="en">
                <a:solidFill>
                  <a:schemeClr val="dk1"/>
                </a:solidFill>
              </a:rPr>
              <a:t>, so LLVM never reuses register names.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Each register is </a:t>
            </a:r>
            <a:r>
              <a:rPr b="1" lang="en">
                <a:solidFill>
                  <a:schemeClr val="dk1"/>
                </a:solidFill>
              </a:rPr>
              <a:t>assigned exactly once</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By coloring, the register allocator maps these virtual registers onto real machine registers.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Point out conditional vs unconditional branch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Conditional branches introduce </a:t>
            </a:r>
            <a:r>
              <a:rPr i="1" lang="en">
                <a:solidFill>
                  <a:schemeClr val="dk1"/>
                </a:solidFill>
              </a:rPr>
              <a:t>non</a:t>
            </a:r>
            <a:r>
              <a:rPr lang="en">
                <a:solidFill>
                  <a:schemeClr val="dk1"/>
                </a:solidFill>
              </a:rPr>
              <a:t>-sequential control flow, where liveness becomes a tree, with nodes being sequential operations</a:t>
            </a:r>
            <a:endParaRPr>
              <a:solidFill>
                <a:schemeClr val="dk1"/>
              </a:solidFill>
            </a:endParaRPr>
          </a:p>
          <a:p>
            <a:pPr indent="0" lvl="0" marL="0" rtl="0" algn="l">
              <a:spcBef>
                <a:spcPts val="1200"/>
              </a:spcBef>
              <a:spcAft>
                <a:spcPts val="0"/>
              </a:spcAft>
              <a:buNone/>
            </a:pPr>
            <a:r>
              <a:t/>
            </a:r>
            <a:endParaRPr sz="1150">
              <a:solidFill>
                <a:srgbClr val="0C0D0E"/>
              </a:solidFill>
              <a:highlight>
                <a:srgbClr val="FFFFFF"/>
              </a:highlight>
            </a:endParaRPr>
          </a:p>
          <a:p>
            <a:pPr indent="0" lvl="0" marL="0" rtl="0" algn="l">
              <a:spcBef>
                <a:spcPts val="0"/>
              </a:spcBef>
              <a:spcAft>
                <a:spcPts val="0"/>
              </a:spcAft>
              <a:buNone/>
            </a:pPr>
            <a:r>
              <a:t/>
            </a:r>
            <a:endParaRPr sz="1150">
              <a:solidFill>
                <a:srgbClr val="0C0D0E"/>
              </a:solidFill>
              <a:highlight>
                <a:srgbClr val="FFFFFF"/>
              </a:highlight>
            </a:endParaRPr>
          </a:p>
          <a:p>
            <a:pPr indent="0" lvl="0" marL="0" rtl="0" algn="l">
              <a:spcBef>
                <a:spcPts val="0"/>
              </a:spcBef>
              <a:spcAft>
                <a:spcPts val="0"/>
              </a:spcAft>
              <a:buNone/>
            </a:pPr>
            <a:r>
              <a:rPr lang="en" sz="1150">
                <a:solidFill>
                  <a:srgbClr val="0C0D0E"/>
                </a:solidFill>
                <a:highlight>
                  <a:srgbClr val="FFFFFF"/>
                </a:highlight>
              </a:rPr>
              <a:t>A phi node is an instruction used to select a value depending on the predecessor of the current block</a:t>
            </a:r>
            <a:endParaRPr sz="1150">
              <a:solidFill>
                <a:srgbClr val="0C0D0E"/>
              </a:solidFill>
              <a:highlight>
                <a:srgbClr val="FFFFFF"/>
              </a:highlight>
            </a:endParaRPr>
          </a:p>
          <a:p>
            <a:pPr indent="0" lvl="0" marL="0" rtl="0" algn="l">
              <a:spcBef>
                <a:spcPts val="0"/>
              </a:spcBef>
              <a:spcAft>
                <a:spcPts val="0"/>
              </a:spcAft>
              <a:buNone/>
            </a:pPr>
            <a:r>
              <a:rPr lang="en" sz="1150">
                <a:solidFill>
                  <a:srgbClr val="0C0D0E"/>
                </a:solidFill>
                <a:highlight>
                  <a:srgbClr val="FFFFFF"/>
                </a:highlight>
              </a:rPr>
              <a:t>Example:</a:t>
            </a:r>
            <a:endParaRPr sz="1150">
              <a:solidFill>
                <a:srgbClr val="0C0D0E"/>
              </a:solidFill>
              <a:highlight>
                <a:srgbClr val="FFFFFF"/>
              </a:highlight>
            </a:endParaRPr>
          </a:p>
          <a:p>
            <a:pPr indent="0" lvl="0" marL="114300" marR="114300" rtl="0" algn="l">
              <a:lnSpc>
                <a:spcPct val="130769"/>
              </a:lnSpc>
              <a:spcBef>
                <a:spcPts val="0"/>
              </a:spcBef>
              <a:spcAft>
                <a:spcPts val="0"/>
              </a:spcAft>
              <a:buClr>
                <a:schemeClr val="dk1"/>
              </a:buClr>
              <a:buSzPts val="1100"/>
              <a:buFont typeface="Arial"/>
              <a:buNone/>
            </a:pPr>
            <a:r>
              <a:rPr lang="en" sz="1000">
                <a:solidFill>
                  <a:srgbClr val="0C0D0E"/>
                </a:solidFill>
                <a:highlight>
                  <a:srgbClr val="F6F6F6"/>
                </a:highlight>
                <a:latin typeface="Courier New"/>
                <a:ea typeface="Courier New"/>
                <a:cs typeface="Courier New"/>
                <a:sym typeface="Courier New"/>
              </a:rPr>
              <a:t>void m(bool r, bool y){ bool l = y || r ; }</a:t>
            </a:r>
            <a:endParaRPr sz="1000">
              <a:solidFill>
                <a:srgbClr val="0C0D0E"/>
              </a:solidFill>
              <a:highlight>
                <a:srgbClr val="F6F6F6"/>
              </a:highlight>
              <a:latin typeface="Courier New"/>
              <a:ea typeface="Courier New"/>
              <a:cs typeface="Courier New"/>
              <a:sym typeface="Courier New"/>
            </a:endParaRPr>
          </a:p>
          <a:p>
            <a:pPr indent="0" lvl="0" marL="0" rtl="0" algn="l">
              <a:spcBef>
                <a:spcPts val="0"/>
              </a:spcBef>
              <a:spcAft>
                <a:spcPts val="0"/>
              </a:spcAft>
              <a:buNone/>
            </a:pPr>
            <a:r>
              <a:t/>
            </a:r>
            <a:endParaRPr sz="1150">
              <a:solidFill>
                <a:srgbClr val="0C0D0E"/>
              </a:solidFill>
              <a:highlight>
                <a:srgbClr val="FFFFFF"/>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d61af0d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d61af0d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8000"/>
              </a:lnSpc>
              <a:spcBef>
                <a:spcPts val="0"/>
              </a:spcBef>
              <a:spcAft>
                <a:spcPts val="0"/>
              </a:spcAft>
              <a:buNone/>
            </a:pPr>
            <a:r>
              <a:rPr lang="en" sz="1350">
                <a:solidFill>
                  <a:schemeClr val="dk1"/>
                </a:solidFill>
                <a:latin typeface="Nunito"/>
                <a:ea typeface="Nunito"/>
                <a:cs typeface="Nunito"/>
                <a:sym typeface="Nunito"/>
              </a:rPr>
              <a:t>Here is where we begin tracing liveness with block granularity. This means a lot of preprocessing needs to be done: construct the block tree, determine all successors, determine what information is first defined and what is used per line.</a:t>
            </a:r>
            <a:endParaRPr sz="1350">
              <a:solidFill>
                <a:schemeClr val="dk1"/>
              </a:solidFill>
              <a:latin typeface="Nunito"/>
              <a:ea typeface="Nunito"/>
              <a:cs typeface="Nunito"/>
              <a:sym typeface="Nunito"/>
            </a:endParaRPr>
          </a:p>
          <a:p>
            <a:pPr indent="0" lvl="0" marL="0" rtl="0" algn="l">
              <a:lnSpc>
                <a:spcPct val="158000"/>
              </a:lnSpc>
              <a:spcBef>
                <a:spcPts val="1800"/>
              </a:spcBef>
              <a:spcAft>
                <a:spcPts val="0"/>
              </a:spcAft>
              <a:buNone/>
            </a:pPr>
            <a:r>
              <a:rPr lang="en">
                <a:solidFill>
                  <a:srgbClr val="188038"/>
                </a:solidFill>
                <a:latin typeface="Roboto Mono"/>
                <a:ea typeface="Roboto Mono"/>
                <a:cs typeface="Roboto Mono"/>
                <a:sym typeface="Roboto Mono"/>
              </a:rPr>
              <a:t>def[B]</a:t>
            </a:r>
            <a:r>
              <a:rPr lang="en">
                <a:solidFill>
                  <a:schemeClr val="dk1"/>
                </a:solidFill>
              </a:rPr>
              <a:t> = registers </a:t>
            </a:r>
            <a:r>
              <a:rPr b="1" lang="en">
                <a:solidFill>
                  <a:schemeClr val="dk1"/>
                </a:solidFill>
              </a:rPr>
              <a:t>defined</a:t>
            </a:r>
            <a:r>
              <a:rPr lang="en">
                <a:solidFill>
                  <a:schemeClr val="dk1"/>
                </a:solidFill>
              </a:rPr>
              <a:t> in B </a:t>
            </a:r>
            <a:r>
              <a:rPr i="1" lang="en">
                <a:solidFill>
                  <a:schemeClr val="dk1"/>
                </a:solidFill>
              </a:rPr>
              <a:t>before any use</a:t>
            </a:r>
            <a:endParaRPr i="1">
              <a:solidFill>
                <a:schemeClr val="dk1"/>
              </a:solidFill>
            </a:endParaRPr>
          </a:p>
          <a:p>
            <a:pPr indent="0" lvl="0" marL="0" rtl="0" algn="l">
              <a:lnSpc>
                <a:spcPct val="158000"/>
              </a:lnSpc>
              <a:spcBef>
                <a:spcPts val="1800"/>
              </a:spcBef>
              <a:spcAft>
                <a:spcPts val="0"/>
              </a:spcAft>
              <a:buNone/>
            </a:pPr>
            <a:r>
              <a:rPr lang="en">
                <a:solidFill>
                  <a:srgbClr val="188038"/>
                </a:solidFill>
                <a:latin typeface="Roboto Mono"/>
                <a:ea typeface="Roboto Mono"/>
                <a:cs typeface="Roboto Mono"/>
                <a:sym typeface="Roboto Mono"/>
              </a:rPr>
              <a:t>use[B]</a:t>
            </a:r>
            <a:r>
              <a:rPr lang="en">
                <a:solidFill>
                  <a:schemeClr val="dk1"/>
                </a:solidFill>
              </a:rPr>
              <a:t> = registers </a:t>
            </a:r>
            <a:r>
              <a:rPr b="1" lang="en">
                <a:solidFill>
                  <a:schemeClr val="dk1"/>
                </a:solidFill>
              </a:rPr>
              <a:t>used</a:t>
            </a:r>
            <a:r>
              <a:rPr lang="en">
                <a:solidFill>
                  <a:schemeClr val="dk1"/>
                </a:solidFill>
              </a:rPr>
              <a:t> in B </a:t>
            </a:r>
            <a:r>
              <a:rPr i="1" lang="en">
                <a:solidFill>
                  <a:schemeClr val="dk1"/>
                </a:solidFill>
              </a:rPr>
              <a:t>before being defined</a:t>
            </a:r>
            <a:r>
              <a:rPr lang="en">
                <a:solidFill>
                  <a:schemeClr val="dk1"/>
                </a:solidFill>
              </a:rPr>
              <a:t> in B</a:t>
            </a:r>
            <a:endParaRPr sz="1350">
              <a:solidFill>
                <a:schemeClr val="dk1"/>
              </a:solidFill>
              <a:latin typeface="Nunito"/>
              <a:ea typeface="Nunito"/>
              <a:cs typeface="Nunito"/>
              <a:sym typeface="Nunito"/>
            </a:endParaRPr>
          </a:p>
          <a:p>
            <a:pPr indent="-314325" lvl="0" marL="685800" rtl="0" algn="l">
              <a:lnSpc>
                <a:spcPct val="158000"/>
              </a:lnSpc>
              <a:spcBef>
                <a:spcPts val="1800"/>
              </a:spcBef>
              <a:spcAft>
                <a:spcPts val="0"/>
              </a:spcAft>
              <a:buClr>
                <a:srgbClr val="FFFFFF"/>
              </a:buClr>
              <a:buSzPts val="1350"/>
              <a:buFont typeface="Nunito"/>
              <a:buChar char="●"/>
            </a:pPr>
            <a:r>
              <a:rPr lang="en" sz="1350">
                <a:solidFill>
                  <a:srgbClr val="FFFFFF"/>
                </a:solidFill>
                <a:highlight>
                  <a:srgbClr val="131417"/>
                </a:highlight>
                <a:latin typeface="Nunito"/>
                <a:ea typeface="Nunito"/>
                <a:cs typeface="Nunito"/>
                <a:sym typeface="Nunito"/>
              </a:rPr>
              <a:t>def(v): It is defined as the set of all the nodes in the control flow graph where 'v' is defined.</a:t>
            </a:r>
            <a:endParaRPr sz="1350">
              <a:solidFill>
                <a:srgbClr val="FFFFFF"/>
              </a:solidFill>
              <a:highlight>
                <a:srgbClr val="131417"/>
              </a:highlight>
              <a:latin typeface="Nunito"/>
              <a:ea typeface="Nunito"/>
              <a:cs typeface="Nunito"/>
              <a:sym typeface="Nunito"/>
            </a:endParaRPr>
          </a:p>
          <a:p>
            <a:pPr indent="-314325" lvl="0" marL="685800" rtl="0" algn="l">
              <a:lnSpc>
                <a:spcPct val="158000"/>
              </a:lnSpc>
              <a:spcBef>
                <a:spcPts val="0"/>
              </a:spcBef>
              <a:spcAft>
                <a:spcPts val="0"/>
              </a:spcAft>
              <a:buClr>
                <a:srgbClr val="FFFFFF"/>
              </a:buClr>
              <a:buSzPts val="1350"/>
              <a:buFont typeface="Nunito"/>
              <a:buChar char="●"/>
            </a:pPr>
            <a:r>
              <a:rPr lang="en" sz="1350">
                <a:solidFill>
                  <a:srgbClr val="FFFFFF"/>
                </a:solidFill>
                <a:highlight>
                  <a:srgbClr val="131417"/>
                </a:highlight>
                <a:latin typeface="Nunito"/>
                <a:ea typeface="Nunito"/>
                <a:cs typeface="Nunito"/>
                <a:sym typeface="Nunito"/>
              </a:rPr>
              <a:t>use(v): It is defined as the set of all the nodes in the control flow graph that use 'v'</a:t>
            </a:r>
            <a:endParaRPr sz="1350">
              <a:solidFill>
                <a:srgbClr val="FFFFFF"/>
              </a:solidFill>
              <a:highlight>
                <a:srgbClr val="131417"/>
              </a:highlight>
              <a:latin typeface="Nunito"/>
              <a:ea typeface="Nunito"/>
              <a:cs typeface="Nunito"/>
              <a:sym typeface="Nunito"/>
            </a:endParaRPr>
          </a:p>
          <a:p>
            <a:pPr indent="0" lvl="0" marL="457200" rtl="0" algn="l">
              <a:lnSpc>
                <a:spcPct val="158000"/>
              </a:lnSpc>
              <a:spcBef>
                <a:spcPts val="1800"/>
              </a:spcBef>
              <a:spcAft>
                <a:spcPts val="0"/>
              </a:spcAft>
              <a:buNone/>
            </a:pPr>
            <a:r>
              <a:rPr lang="en" sz="1200">
                <a:solidFill>
                  <a:schemeClr val="dk1"/>
                </a:solidFill>
                <a:highlight>
                  <a:srgbClr val="E0E0E0"/>
                </a:highlight>
                <a:latin typeface="Courier New"/>
                <a:ea typeface="Courier New"/>
                <a:cs typeface="Courier New"/>
                <a:sym typeface="Courier New"/>
              </a:rPr>
              <a:t>-&gt; in[n]: As set of all the variables live-in at 'n' and</a:t>
            </a:r>
            <a:endParaRPr sz="12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1800"/>
              </a:spcBef>
              <a:spcAft>
                <a:spcPts val="0"/>
              </a:spcAft>
              <a:buNone/>
            </a:pPr>
            <a:r>
              <a:rPr lang="en" sz="1200">
                <a:solidFill>
                  <a:schemeClr val="dk1"/>
                </a:solidFill>
                <a:highlight>
                  <a:srgbClr val="E0E0E0"/>
                </a:highlight>
                <a:latin typeface="Courier New"/>
                <a:ea typeface="Courier New"/>
                <a:cs typeface="Courier New"/>
                <a:sym typeface="Courier New"/>
              </a:rPr>
              <a:t>-&gt; out[n]: As set of all the variables live-out at 'n',</a:t>
            </a:r>
            <a:endParaRPr sz="1200">
              <a:solidFill>
                <a:schemeClr val="dk1"/>
              </a:solidFill>
              <a:highlight>
                <a:srgbClr val="E0E0E0"/>
              </a:highlight>
              <a:latin typeface="Courier New"/>
              <a:ea typeface="Courier New"/>
              <a:cs typeface="Courier New"/>
              <a:sym typeface="Courier New"/>
            </a:endParaRPr>
          </a:p>
          <a:p>
            <a:pPr indent="0" lvl="0" marL="0" marR="190500" rtl="0" algn="l">
              <a:lnSpc>
                <a:spcPct val="115000"/>
              </a:lnSpc>
              <a:spcBef>
                <a:spcPts val="800"/>
              </a:spcBef>
              <a:spcAft>
                <a:spcPts val="0"/>
              </a:spcAft>
              <a:buNone/>
            </a:pPr>
            <a:r>
              <a:t/>
            </a:r>
            <a:endParaRPr sz="1200">
              <a:solidFill>
                <a:schemeClr val="dk1"/>
              </a:solidFill>
              <a:highlight>
                <a:srgbClr val="E0E0E0"/>
              </a:highlight>
              <a:latin typeface="Courier New"/>
              <a:ea typeface="Courier New"/>
              <a:cs typeface="Courier New"/>
              <a:sym typeface="Courier New"/>
            </a:endParaRPr>
          </a:p>
          <a:p>
            <a:pPr indent="0" lvl="0" marL="0" marR="190500" rtl="0" algn="l">
              <a:lnSpc>
                <a:spcPct val="115000"/>
              </a:lnSpc>
              <a:spcBef>
                <a:spcPts val="800"/>
              </a:spcBef>
              <a:spcAft>
                <a:spcPts val="0"/>
              </a:spcAft>
              <a:buNone/>
            </a:pPr>
            <a:r>
              <a:rPr lang="en" sz="1200">
                <a:solidFill>
                  <a:schemeClr val="dk1"/>
                </a:solidFill>
                <a:highlight>
                  <a:srgbClr val="E0E0E0"/>
                </a:highlight>
                <a:latin typeface="Courier New"/>
                <a:ea typeface="Courier New"/>
                <a:cs typeface="Courier New"/>
                <a:sym typeface="Courier New"/>
              </a:rPr>
              <a:t>With these pieces of information, we can use the algorithm shown to compute in and out</a:t>
            </a:r>
            <a:endParaRPr sz="1200">
              <a:solidFill>
                <a:schemeClr val="dk1"/>
              </a:solidFill>
              <a:highlight>
                <a:srgbClr val="E0E0E0"/>
              </a:highlight>
              <a:latin typeface="Courier New"/>
              <a:ea typeface="Courier New"/>
              <a:cs typeface="Courier New"/>
              <a:sym typeface="Courier New"/>
            </a:endParaRPr>
          </a:p>
          <a:p>
            <a:pPr indent="0" lvl="0" marL="457200" rtl="0" algn="l">
              <a:lnSpc>
                <a:spcPct val="158000"/>
              </a:lnSpc>
              <a:spcBef>
                <a:spcPts val="800"/>
              </a:spcBef>
              <a:spcAft>
                <a:spcPts val="0"/>
              </a:spcAft>
              <a:buNone/>
            </a:pPr>
            <a:r>
              <a:t/>
            </a:r>
            <a:endParaRPr sz="1350">
              <a:solidFill>
                <a:srgbClr val="FFFFFF"/>
              </a:solidFill>
              <a:highlight>
                <a:srgbClr val="131417"/>
              </a:highlight>
              <a:latin typeface="Nunito"/>
              <a:ea typeface="Nunito"/>
              <a:cs typeface="Nunito"/>
              <a:sym typeface="Nunito"/>
            </a:endParaRPr>
          </a:p>
          <a:p>
            <a:pPr indent="0" lvl="0" marL="0" rtl="0" algn="l">
              <a:spcBef>
                <a:spcPts val="18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d6d7c7f6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d6d7c7f6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Originally</a:t>
            </a:r>
            <a:r>
              <a:rPr lang="en"/>
              <a:t>, we were planning on using some sort of deep learning model to learn from the output data generated by this, but that became an intractable goal. Regardless, there is much value in the data itself, and we still wanted to create a useful, labeled dataset that can be leveraged in </a:t>
            </a:r>
            <a:r>
              <a:rPr lang="en"/>
              <a:t>the future to train a model, so we colored the output interference graphs using a standard greedy coloring implementation. We chose the greedy algorithm due to the fact that it tends to produce a result with fewer colors at the cost of execution speed and parallelizability. Because our focus is on creating a dataset, we care more about optimizing for the number of colors.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d6d7c7f6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d6d7c7f6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an interference graph is finished being colored, it is a one to one process of assigning each variable to a register. The entire point of coloring the graph is to create sets of vertices that are independent, not connected by an edge. Because an edge represents interference between two nodes, all variables that are colored the same do not interfere with each other. This means that a single register can be used for all of the assignments made for each of these variables throughout the entire live of the program. In turn, the minimum number of registers required by a given interference graph is equal to its chromatic number. The translation from a colored interference graph to a register allocated program is simply mapping any instance of a virtual register to its color given by the graph.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d6d7c7f6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d6d7c7f6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colored the interference graph, we realize that this is a bit of a trivial outcome. No program consists of only a single function, much less a single function that is never called nor calls functions within. Tackling the first problem, it is actually remarkably simple to extend what has been discussed to a program containing multiple functions, due to the scoping rules of the C language.</a:t>
            </a:r>
            <a:r>
              <a:rPr lang="en">
                <a:solidFill>
                  <a:schemeClr val="dk1"/>
                </a:solidFill>
              </a:rPr>
              <a:t> (ANIMATE)</a:t>
            </a:r>
            <a:r>
              <a:rPr lang="en"/>
              <a:t> Functions implementations themselves are treated as independent execution units, meaning they are agnostic of the context in which they are called, outside of the variables passed into them via registers contained in the calling convention utilized, more on that soon. As a result, the output assembly code of multiple function implementations will contain usages of virtual registers that are entirely independent from one another. This makes sense intuitively, as a function is never interrupted in a serial program, meaning any registers it needs will be freed by the time the function returns. In turn, interference graphs of multiple functions are remarkably simple to construct, as they are just the independent union of all interference subgraphs of each function.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d6d7c7f6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d6d7c7f6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Things get a bit more complicated when we actually call the functions themselves. There is no standard convention for how function calls should be made in assembly, so it is entirely up to the architecture of the hardware to determine what information, such as arguments and return value, needs to be written to memory or to registers in order to allow for the independent execution of a function. This is why the compiler ecosystem tends to be so diverse, as x86, ARM, IBM POWER, and all other ISAs each define their own convention. Either way, we are focusing on the x86-64 c declaration convention, as that is the architecture we all have on our computers. The simplest solution that makes the most sense intuitively is to consider every variable that stays live across the function call to interfere with every variable within the function. Save for argument and return registers, this is also representative of the most realistic solution, as all other registers are nonvolatile across calls, meaning they must be preserved by the callee. This can be done in one of two ways, by not overwriting them at all, or by saving the value to the stack and restoring it upon the return of the function. These are exactly the same semantics of a memory spill, which means that modeling the live registers as supernodes of the function’s subgraph works quite nicely.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d6d7c7f6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d6d7c7f6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when actually constructing the final interference graph of an executable, the interference subgraphs are treated as abstract building blocks. This is due to the fact that a function can be called multiple times in different contexts, or even not called at all, in which case it should not be considered. The result of this is many copies of the same graph structure, as you can see here in this example. Func2 is called twice, meaning nodes 4 to 7 as well as 8 to 11 represent the same subgraph, only varying in which nodes of its caller, being 12-17, are supernodes. A result of this type of graph structure is that the supernodes of a parent function are </a:t>
            </a:r>
            <a:r>
              <a:rPr lang="en"/>
              <a:t>inherited</a:t>
            </a:r>
            <a:r>
              <a:rPr lang="en"/>
              <a:t> by any child functions it calls, as in, a value allocated to a register needs to persist in the same register until any children, grandchildren, etc functions have all returned.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d6d7c7f6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ad6d7c7f6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is a lot of introduced complexity when dealing with C includes and library linkage, none of which we have looked into yet. This is because, in theory, the interference graph generation process of multiple files should behave exactly the same as it does for a single compilation unit, as long as the compiler’s view of each file is consistent with the final linked program. However, in practice this assumption breaks down very quickly. When we introduce #include chains, we are effectively pulling in additional declarations, inline definitions, and sometimes entire subsystems of code that the compiler treats as if they were part of the current translation unit. This means the live ranges of variables, and even which variables exist at all, may be influenced by header structure rather than the source file we think we are analyzing. Beyond that, LLVM introduces another layer of complication with its dedicated linker. We have not explored that subsystem yet, but it fundamentally changes when and how global symbols are resolved. Statically linked code ends up physically inside the final executable, and therefore participates in the same optimization and analysis pipeline. Dynamically linked code, on the other hand, is </a:t>
            </a:r>
            <a:r>
              <a:rPr i="1" lang="en">
                <a:solidFill>
                  <a:schemeClr val="dk1"/>
                </a:solidFill>
              </a:rPr>
              <a:t>not</a:t>
            </a:r>
            <a:r>
              <a:rPr lang="en">
                <a:solidFill>
                  <a:schemeClr val="dk1"/>
                </a:solidFill>
              </a:rPr>
              <a:t> present during compilation, so any analysis that depends on complete visibility — including interference graph construction — cannot directly account for it. Despite all of these complications, the key point is that as long as the </a:t>
            </a:r>
            <a:r>
              <a:rPr i="1" lang="en">
                <a:solidFill>
                  <a:schemeClr val="dk1"/>
                </a:solidFill>
              </a:rPr>
              <a:t>call semantics</a:t>
            </a:r>
            <a:r>
              <a:rPr lang="en">
                <a:solidFill>
                  <a:schemeClr val="dk1"/>
                </a:solidFill>
              </a:rPr>
              <a:t> between files remain stable, the underlying structure of the problem does not actually change. The interference graph is still built from local variable lifetimes within each function. What becomes more nuanced is controlling </a:t>
            </a:r>
            <a:r>
              <a:rPr i="1" lang="en">
                <a:solidFill>
                  <a:schemeClr val="dk1"/>
                </a:solidFill>
              </a:rPr>
              <a:t>where</a:t>
            </a:r>
            <a:r>
              <a:rPr lang="en">
                <a:solidFill>
                  <a:schemeClr val="dk1"/>
                </a:solidFill>
              </a:rPr>
              <a:t> those functions come from and ensuring the compiler has enough information to treat them consistently.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d6d7c7f6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d6d7c7f6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“We initially found two public datasets for training: the DIMACS/COLOR graph datasets and an IEEE register-interference dataset. But both turned out to be unusable for our goals.”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“DIMACS graphs aren’t interference graphs at all—they’re random or adversarial graph-coloring benchmarks. They have the wrong structure, wrong chromatic profile, and no program semantics. Training on them would teach the model patterns that simply don’t exist in real compiler workloads.”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IEEE dataset </a:t>
            </a:r>
            <a:r>
              <a:rPr b="1" i="1" lang="en">
                <a:solidFill>
                  <a:schemeClr val="dk1"/>
                </a:solidFill>
              </a:rPr>
              <a:t>is</a:t>
            </a:r>
            <a:r>
              <a:rPr b="1" lang="en">
                <a:solidFill>
                  <a:schemeClr val="dk1"/>
                </a:solidFill>
              </a:rPr>
              <a:t> register-related, but their graphs are generated by doing a linear scan over the IR instead of analyzing true code dependencies. They treat liveness as ‘first line mentioned to last line mentioned,’ which is extremely naïve and doesn’t resemble real interference-graph construction.”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“They also don’t run a real interference analysis, no live-range splitting, no actual liveness propagation through control flow. So the graphs are structurally wrong for register allocation.”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“Our work directly fixes both problems. We generate interference graphs by running the full LLVM pipeline, plus our custom passes, on actual C code. So our graphs reflect real liveness, real control flow, and real register pressure.”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“To the best of our knowledge, no one has built a large-scale, compiler-accurate interference-graph dataset for ML-based colorings before. This makes our dataset, and the learning approach on top of it, genuinely new.”</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d6d7c7f6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d6d7c7f6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“After exploring the available datasets, we realized the existing options were too poor in quality to support our original goals. So we had to pivot.”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“In hindsight, we bit off more than we could chew by trying to jump straight into training a neural model on top of datasets that weren’t even suitable to begin with.”</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“So we decided to focus on the top part of our original pipeline—the data generation phase—rather than the machine-learning phase.”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“Our new objective is simple but important: build a high-quality interference-graph dataset that is </a:t>
            </a:r>
            <a:r>
              <a:rPr b="1" i="1" lang="en">
                <a:solidFill>
                  <a:schemeClr val="dk1"/>
                </a:solidFill>
              </a:rPr>
              <a:t>better</a:t>
            </a:r>
            <a:r>
              <a:rPr b="1" lang="en">
                <a:solidFill>
                  <a:schemeClr val="dk1"/>
                </a:solidFill>
              </a:rPr>
              <a:t> than anything currently available, so that future researchers won’t face the same limitations we did.”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diagram shows our workflow: we take real C and C++ programs, feed them into our custom interference-graph generator, and produce a clean, compiler-accurate interference graph dataset.”</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d9617da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d9617da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Right now we </a:t>
            </a:r>
            <a:r>
              <a:rPr lang="en">
                <a:solidFill>
                  <a:schemeClr val="dk1"/>
                </a:solidFill>
              </a:rPr>
              <a:t>need to continue debugging and adding features to our current code to truly produce something new however there are the current fruits of our labor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graph is the result of the full pipeline at work. We were able to take the C code from slide 13, process that in LLVM, extract the registers and finally produce a full interference graph via a python script we made. This, plus the edge list this came from, is the final product of our data set.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need to finish an automation script. Currently we go through each step manually. The final goal is to go from C source code to a graph you see here after one command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d6d7c7f6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d6d7c7f6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 course, the first step in continuing this project is to reexamine our original goal of creating a NN model to learn features from interference graphs to color them efficiently and optimally. We will still </a:t>
            </a:r>
            <a:br>
              <a:rPr lang="en"/>
            </a:br>
            <a:br>
              <a:rPr lang="en"/>
            </a:br>
            <a:r>
              <a:rPr b="1" lang="en">
                <a:solidFill>
                  <a:schemeClr val="dk1"/>
                </a:solidFill>
              </a:rPr>
              <a:t>“In the short term, our focus is very practical: we need to finish debugging the generator and make sure the pipeline is fully reliable.”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“We’re also finishing the automation script so we can run large batches of programs without manual intervention. This is key for scaling the dataset.”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“If time allows, our main stretch goal is to return to the original vision—training a neural network on the dataset we generate. Now that we understand the data limitations, this would be far more meaningful.”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“Another potential direction is generating canonical subgraph colorings for commonly used library functions. These appear frequently in real codebases and could improve downstream register allocation.”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“Finally, there’s more nuance we could explore around calling conventions and volatile registers. These introduce edge-case constraints that real compilers must handle, so modeling them would deepen the dataset’s realism.”</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d9617da3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d9617da3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Bullets">
  <p:cSld name="Content w/Bullets">
    <p:spTree>
      <p:nvGrpSpPr>
        <p:cNvPr id="51" name="Shape 51"/>
        <p:cNvGrpSpPr/>
        <p:nvPr/>
      </p:nvGrpSpPr>
      <p:grpSpPr>
        <a:xfrm>
          <a:off x="0" y="0"/>
          <a:ext cx="0" cy="0"/>
          <a:chOff x="0" y="0"/>
          <a:chExt cx="0" cy="0"/>
        </a:xfrm>
      </p:grpSpPr>
      <p:sp>
        <p:nvSpPr>
          <p:cNvPr id="52" name="Google Shape;52;p14"/>
          <p:cNvSpPr txBox="1"/>
          <p:nvPr>
            <p:ph idx="1" type="body"/>
          </p:nvPr>
        </p:nvSpPr>
        <p:spPr>
          <a:xfrm>
            <a:off x="224416" y="778091"/>
            <a:ext cx="6257925"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3" name="Google Shape;53;p14"/>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4" name="Google Shape;54;p14"/>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55" name="Google Shape;55;p14"/>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56" name="Google Shape;56;p14"/>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57" name="Google Shape;57;p14"/>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58" name="Google Shape;58;p14"/>
          <p:cNvSpPr txBox="1"/>
          <p:nvPr>
            <p:ph idx="2"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chemeClr val="dk1"/>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59" name="Google Shape;59;p14"/>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612">
          <p15:clr>
            <a:srgbClr val="FBAE40"/>
          </p15:clr>
        </p15:guide>
        <p15:guide id="4" pos="1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 name="Shape 60"/>
        <p:cNvGrpSpPr/>
        <p:nvPr/>
      </p:nvGrpSpPr>
      <p:grpSpPr>
        <a:xfrm>
          <a:off x="0" y="0"/>
          <a:ext cx="0" cy="0"/>
          <a:chOff x="0" y="0"/>
          <a:chExt cx="0" cy="0"/>
        </a:xfrm>
      </p:grpSpPr>
      <p:sp>
        <p:nvSpPr>
          <p:cNvPr id="61" name="Google Shape;61;p15"/>
          <p:cNvSpPr/>
          <p:nvPr/>
        </p:nvSpPr>
        <p:spPr>
          <a:xfrm>
            <a:off x="-1" y="0"/>
            <a:ext cx="9144001" cy="5143500"/>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2" name="Google Shape;62;p15"/>
          <p:cNvPicPr preferRelativeResize="0"/>
          <p:nvPr/>
        </p:nvPicPr>
        <p:blipFill rotWithShape="1">
          <a:blip r:embed="rId2">
            <a:alphaModFix/>
          </a:blip>
          <a:srcRect b="0" l="0" r="6662" t="0"/>
          <a:stretch/>
        </p:blipFill>
        <p:spPr>
          <a:xfrm>
            <a:off x="-1" y="0"/>
            <a:ext cx="9144000" cy="5143499"/>
          </a:xfrm>
          <a:prstGeom prst="rect">
            <a:avLst/>
          </a:prstGeom>
          <a:noFill/>
          <a:ln>
            <a:noFill/>
          </a:ln>
        </p:spPr>
      </p:pic>
      <p:sp>
        <p:nvSpPr>
          <p:cNvPr id="63" name="Google Shape;63;p15"/>
          <p:cNvSpPr txBox="1"/>
          <p:nvPr>
            <p:ph type="ctrTitle"/>
          </p:nvPr>
        </p:nvSpPr>
        <p:spPr>
          <a:xfrm>
            <a:off x="0" y="1057151"/>
            <a:ext cx="9144000" cy="543049"/>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15"/>
          <p:cNvSpPr txBox="1"/>
          <p:nvPr>
            <p:ph idx="1" type="subTitle"/>
          </p:nvPr>
        </p:nvSpPr>
        <p:spPr>
          <a:xfrm>
            <a:off x="0" y="2603003"/>
            <a:ext cx="9144000" cy="822325"/>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lvl="1"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C:\Users\gardel2\Desktop\Brand Approval Reference\Rensselaer Logo Layered Files\RF0010-01 Rensselaer Large Logo\RGB\PNGs\RF0010-01 Rensselaer Large Logo-with Tagline RGB-White.png" id="65" name="Google Shape;65;p15"/>
          <p:cNvPicPr preferRelativeResize="0"/>
          <p:nvPr/>
        </p:nvPicPr>
        <p:blipFill rotWithShape="1">
          <a:blip r:embed="rId3">
            <a:alphaModFix/>
          </a:blip>
          <a:srcRect b="0" l="0" r="0" t="0"/>
          <a:stretch/>
        </p:blipFill>
        <p:spPr>
          <a:xfrm>
            <a:off x="2385343" y="3846553"/>
            <a:ext cx="3296841" cy="8001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66" name="Shape 66"/>
        <p:cNvGrpSpPr/>
        <p:nvPr/>
      </p:nvGrpSpPr>
      <p:grpSpPr>
        <a:xfrm>
          <a:off x="0" y="0"/>
          <a:ext cx="0" cy="0"/>
          <a:chOff x="0" y="0"/>
          <a:chExt cx="0" cy="0"/>
        </a:xfrm>
      </p:grpSpPr>
      <p:sp>
        <p:nvSpPr>
          <p:cNvPr id="67" name="Google Shape;67;p16"/>
          <p:cNvSpPr/>
          <p:nvPr/>
        </p:nvSpPr>
        <p:spPr>
          <a:xfrm>
            <a:off x="0" y="2371988"/>
            <a:ext cx="9144000" cy="2782206"/>
          </a:xfrm>
          <a:prstGeom prst="rect">
            <a:avLst/>
          </a:prstGeom>
          <a:solidFill>
            <a:srgbClr val="D600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8" name="Google Shape;68;p16"/>
          <p:cNvSpPr txBox="1"/>
          <p:nvPr>
            <p:ph type="ctrTitle"/>
          </p:nvPr>
        </p:nvSpPr>
        <p:spPr>
          <a:xfrm>
            <a:off x="216321" y="2857479"/>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800"/>
              <a:buFont typeface="Arial"/>
              <a:buNone/>
              <a:defRPr b="1" i="0" sz="48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16"/>
          <p:cNvSpPr txBox="1"/>
          <p:nvPr>
            <p:ph idx="1" type="subTitle"/>
          </p:nvPr>
        </p:nvSpPr>
        <p:spPr>
          <a:xfrm>
            <a:off x="241488" y="4168794"/>
            <a:ext cx="8315851" cy="457076"/>
          </a:xfrm>
          <a:prstGeom prst="rect">
            <a:avLst/>
          </a:prstGeom>
          <a:noFill/>
          <a:ln>
            <a:noFill/>
          </a:ln>
        </p:spPr>
        <p:txBody>
          <a:bodyPr anchorCtr="0" anchor="t" bIns="45700" lIns="91425" spcFirstLastPara="1" rIns="91425" wrap="square" tIns="45700">
            <a:noAutofit/>
          </a:bodyPr>
          <a:lstStyle>
            <a:lvl1pPr lvl="0" marR="0" rtl="0" algn="l">
              <a:spcBef>
                <a:spcPts val="280"/>
              </a:spcBef>
              <a:spcAft>
                <a:spcPts val="0"/>
              </a:spcAft>
              <a:buClr>
                <a:srgbClr val="FFFFFF"/>
              </a:buClr>
              <a:buSzPts val="1400"/>
              <a:buFont typeface="Arial"/>
              <a:buNone/>
              <a:defRPr b="0" i="0" sz="1400" u="none" cap="none" strike="noStrike">
                <a:solidFill>
                  <a:srgbClr val="FFFFFF"/>
                </a:solidFill>
                <a:latin typeface="Arial"/>
                <a:ea typeface="Arial"/>
                <a:cs typeface="Arial"/>
                <a:sym typeface="Arial"/>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pic>
        <p:nvPicPr>
          <p:cNvPr descr="C:\Users\gardel2\Desktop\Brand Approval Reference\Rensselaer Logo Layered Files\RF0010-01 Rensselaer Large Logo\CMYK\PNGs\RF0010-01 Rensselaer Large Logo-with Tagline CMYK-TwoColor.png" id="70" name="Google Shape;70;p16"/>
          <p:cNvPicPr preferRelativeResize="0"/>
          <p:nvPr/>
        </p:nvPicPr>
        <p:blipFill rotWithShape="1">
          <a:blip r:embed="rId2">
            <a:alphaModFix/>
          </a:blip>
          <a:srcRect b="0" l="0" r="0" t="0"/>
          <a:stretch/>
        </p:blipFill>
        <p:spPr>
          <a:xfrm>
            <a:off x="350837" y="584491"/>
            <a:ext cx="2738034" cy="664485"/>
          </a:xfrm>
          <a:prstGeom prst="rect">
            <a:avLst/>
          </a:prstGeom>
          <a:noFill/>
          <a:ln>
            <a:noFill/>
          </a:ln>
        </p:spPr>
      </p:pic>
      <p:cxnSp>
        <p:nvCxnSpPr>
          <p:cNvPr id="71" name="Google Shape;71;p16"/>
          <p:cNvCxnSpPr/>
          <p:nvPr/>
        </p:nvCxnSpPr>
        <p:spPr>
          <a:xfrm>
            <a:off x="3175" y="2333419"/>
            <a:ext cx="9144000" cy="0"/>
          </a:xfrm>
          <a:prstGeom prst="straightConnector1">
            <a:avLst/>
          </a:prstGeom>
          <a:noFill/>
          <a:ln cap="flat" cmpd="sng" w="9525">
            <a:solidFill>
              <a:srgbClr val="D6001C"/>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type="title">
  <p:cSld name="TITLE">
    <p:spTree>
      <p:nvGrpSpPr>
        <p:cNvPr id="72" name="Shape 72"/>
        <p:cNvGrpSpPr/>
        <p:nvPr/>
      </p:nvGrpSpPr>
      <p:grpSpPr>
        <a:xfrm>
          <a:off x="0" y="0"/>
          <a:ext cx="0" cy="0"/>
          <a:chOff x="0" y="0"/>
          <a:chExt cx="0" cy="0"/>
        </a:xfrm>
      </p:grpSpPr>
      <p:pic>
        <p:nvPicPr>
          <p:cNvPr descr="photo-1442406964439-e46ab8eff7c4.jpg" id="73" name="Google Shape;73;p17"/>
          <p:cNvPicPr preferRelativeResize="0"/>
          <p:nvPr/>
        </p:nvPicPr>
        <p:blipFill rotWithShape="1">
          <a:blip r:embed="rId2">
            <a:alphaModFix/>
          </a:blip>
          <a:srcRect b="0" l="5462" r="5649" t="0"/>
          <a:stretch/>
        </p:blipFill>
        <p:spPr>
          <a:xfrm>
            <a:off x="-1" y="0"/>
            <a:ext cx="9144001" cy="5143500"/>
          </a:xfrm>
          <a:prstGeom prst="rect">
            <a:avLst/>
          </a:prstGeom>
          <a:noFill/>
          <a:ln>
            <a:noFill/>
          </a:ln>
        </p:spPr>
      </p:pic>
      <p:pic>
        <p:nvPicPr>
          <p:cNvPr descr="C:\Users\gardel2\Desktop\PPT Template\Placed\RF0010-01 Rensselaer Large Logo RGB-White.png" id="74" name="Google Shape;74;p17"/>
          <p:cNvPicPr preferRelativeResize="0"/>
          <p:nvPr/>
        </p:nvPicPr>
        <p:blipFill rotWithShape="1">
          <a:blip r:embed="rId3">
            <a:alphaModFix/>
          </a:blip>
          <a:srcRect b="0" l="0" r="0" t="0"/>
          <a:stretch/>
        </p:blipFill>
        <p:spPr>
          <a:xfrm>
            <a:off x="319664" y="4395174"/>
            <a:ext cx="2020274" cy="377238"/>
          </a:xfrm>
          <a:prstGeom prst="rect">
            <a:avLst/>
          </a:prstGeom>
          <a:noFill/>
          <a:ln>
            <a:noFill/>
          </a:ln>
        </p:spPr>
      </p:pic>
      <p:sp>
        <p:nvSpPr>
          <p:cNvPr id="75" name="Google Shape;75;p17"/>
          <p:cNvSpPr txBox="1"/>
          <p:nvPr>
            <p:ph type="ctrTitle"/>
          </p:nvPr>
        </p:nvSpPr>
        <p:spPr>
          <a:xfrm>
            <a:off x="216321" y="2536600"/>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800"/>
              <a:buFont typeface="Arial"/>
              <a:buNone/>
              <a:defRPr b="1" i="0" sz="48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6" name="Google Shape;76;p17"/>
          <p:cNvSpPr txBox="1"/>
          <p:nvPr>
            <p:ph idx="1" type="subTitle"/>
          </p:nvPr>
        </p:nvSpPr>
        <p:spPr>
          <a:xfrm>
            <a:off x="241488" y="3715788"/>
            <a:ext cx="8315851" cy="457076"/>
          </a:xfrm>
          <a:prstGeom prst="rect">
            <a:avLst/>
          </a:prstGeom>
          <a:noFill/>
          <a:ln>
            <a:noFill/>
          </a:ln>
        </p:spPr>
        <p:txBody>
          <a:bodyPr anchorCtr="0" anchor="t" bIns="45700" lIns="91425" spcFirstLastPara="1" rIns="91425" wrap="square" tIns="45700">
            <a:noAutofit/>
          </a:bodyPr>
          <a:lstStyle>
            <a:lvl1pPr lvl="0" marR="0" rtl="0" algn="l">
              <a:spcBef>
                <a:spcPts val="280"/>
              </a:spcBef>
              <a:spcAft>
                <a:spcPts val="0"/>
              </a:spcAft>
              <a:buClr>
                <a:srgbClr val="FFFFFF"/>
              </a:buClr>
              <a:buSzPts val="1400"/>
              <a:buFont typeface="Arial"/>
              <a:buNone/>
              <a:defRPr b="0" i="0" sz="1400" u="none" cap="none" strike="noStrike">
                <a:solidFill>
                  <a:srgbClr val="FFFFFF"/>
                </a:solidFill>
                <a:latin typeface="Arial"/>
                <a:ea typeface="Arial"/>
                <a:cs typeface="Arial"/>
                <a:sym typeface="Arial"/>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77" name="Shape 77"/>
        <p:cNvGrpSpPr/>
        <p:nvPr/>
      </p:nvGrpSpPr>
      <p:grpSpPr>
        <a:xfrm>
          <a:off x="0" y="0"/>
          <a:ext cx="0" cy="0"/>
          <a:chOff x="0" y="0"/>
          <a:chExt cx="0" cy="0"/>
        </a:xfrm>
      </p:grpSpPr>
      <p:sp>
        <p:nvSpPr>
          <p:cNvPr id="78" name="Google Shape;78;p18"/>
          <p:cNvSpPr/>
          <p:nvPr>
            <p:ph idx="2" type="pic"/>
          </p:nvPr>
        </p:nvSpPr>
        <p:spPr>
          <a:xfrm>
            <a:off x="4572000" y="596897"/>
            <a:ext cx="4572000" cy="4138219"/>
          </a:xfrm>
          <a:prstGeom prst="rect">
            <a:avLst/>
          </a:prstGeom>
          <a:noFill/>
          <a:ln>
            <a:noFill/>
          </a:ln>
        </p:spPr>
      </p:sp>
      <p:sp>
        <p:nvSpPr>
          <p:cNvPr id="79" name="Google Shape;79;p18"/>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rgbClr val="5F6062"/>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rgbClr val="5F6062"/>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80" name="Google Shape;80;p18"/>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
        <p:nvSpPr>
          <p:cNvPr id="81" name="Google Shape;81;p18"/>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2" name="Google Shape;82;p18"/>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83" name="Google Shape;83;p18"/>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84" name="Google Shape;84;p18"/>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85" name="Google Shape;85;p18"/>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86" name="Google Shape;86;p18"/>
          <p:cNvSpPr txBox="1"/>
          <p:nvPr>
            <p:ph idx="3" type="body"/>
          </p:nvPr>
        </p:nvSpPr>
        <p:spPr>
          <a:xfrm>
            <a:off x="224416" y="778091"/>
            <a:ext cx="6257925"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hoto">
  <p:cSld name="3_Photo">
    <p:spTree>
      <p:nvGrpSpPr>
        <p:cNvPr id="87" name="Shape 87"/>
        <p:cNvGrpSpPr/>
        <p:nvPr/>
      </p:nvGrpSpPr>
      <p:grpSpPr>
        <a:xfrm>
          <a:off x="0" y="0"/>
          <a:ext cx="0" cy="0"/>
          <a:chOff x="0" y="0"/>
          <a:chExt cx="0" cy="0"/>
        </a:xfrm>
      </p:grpSpPr>
      <p:sp>
        <p:nvSpPr>
          <p:cNvPr id="88" name="Google Shape;88;p19"/>
          <p:cNvSpPr/>
          <p:nvPr>
            <p:ph idx="2" type="pic"/>
          </p:nvPr>
        </p:nvSpPr>
        <p:spPr>
          <a:xfrm>
            <a:off x="-1" y="596897"/>
            <a:ext cx="4572000" cy="4138219"/>
          </a:xfrm>
          <a:prstGeom prst="rect">
            <a:avLst/>
          </a:prstGeom>
          <a:noFill/>
          <a:ln>
            <a:noFill/>
          </a:ln>
        </p:spPr>
      </p:sp>
      <p:sp>
        <p:nvSpPr>
          <p:cNvPr id="89" name="Google Shape;89;p19"/>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rgbClr val="DB091C"/>
              </a:buClr>
              <a:buSzPts val="1800"/>
              <a:buFont typeface="Noto Sans Symbols"/>
              <a:buChar char="▪"/>
              <a:defRPr b="0" i="0" sz="1800" u="none" cap="none" strike="noStrike">
                <a:solidFill>
                  <a:srgbClr val="5F6062"/>
                </a:solidFill>
                <a:latin typeface="Arial"/>
                <a:ea typeface="Arial"/>
                <a:cs typeface="Arial"/>
                <a:sym typeface="Arial"/>
              </a:defRPr>
            </a:lvl2pPr>
            <a:lvl3pPr indent="-317500" lvl="2" marL="1371600" marR="0" rtl="0" algn="l">
              <a:spcBef>
                <a:spcPts val="600"/>
              </a:spcBef>
              <a:spcAft>
                <a:spcPts val="0"/>
              </a:spcAft>
              <a:buClr>
                <a:srgbClr val="DB091C"/>
              </a:buClr>
              <a:buSzPts val="1400"/>
              <a:buFont typeface="Arial"/>
              <a:buChar char="−"/>
              <a:defRPr b="0" i="0" sz="1400" u="none" cap="none" strike="noStrike">
                <a:solidFill>
                  <a:srgbClr val="5F6062"/>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90" name="Google Shape;90;p19"/>
          <p:cNvCxnSpPr/>
          <p:nvPr/>
        </p:nvCxnSpPr>
        <p:spPr>
          <a:xfrm>
            <a:off x="0" y="596897"/>
            <a:ext cx="9144000" cy="0"/>
          </a:xfrm>
          <a:prstGeom prst="straightConnector1">
            <a:avLst/>
          </a:prstGeom>
          <a:noFill/>
          <a:ln cap="flat" cmpd="sng" w="9525">
            <a:solidFill>
              <a:srgbClr val="D6001C"/>
            </a:solidFill>
            <a:prstDash val="solid"/>
            <a:round/>
            <a:headEnd len="sm" w="sm" type="none"/>
            <a:tailEnd len="sm" w="sm" type="none"/>
          </a:ln>
        </p:spPr>
      </p:cxnSp>
      <p:sp>
        <p:nvSpPr>
          <p:cNvPr id="91" name="Google Shape;91;p19"/>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9"/>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93" name="Google Shape;93;p19"/>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94" name="Google Shape;94;p19"/>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95" name="Google Shape;95;p19"/>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96" name="Google Shape;96;p19"/>
          <p:cNvSpPr txBox="1"/>
          <p:nvPr>
            <p:ph idx="3" type="body"/>
          </p:nvPr>
        </p:nvSpPr>
        <p:spPr>
          <a:xfrm>
            <a:off x="4815280" y="778091"/>
            <a:ext cx="3993757" cy="1371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D6001C"/>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D6001C"/>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hoto">
  <p:cSld name="2_Photo">
    <p:spTree>
      <p:nvGrpSpPr>
        <p:cNvPr id="97" name="Shape 97"/>
        <p:cNvGrpSpPr/>
        <p:nvPr/>
      </p:nvGrpSpPr>
      <p:grpSpPr>
        <a:xfrm>
          <a:off x="0" y="0"/>
          <a:ext cx="0" cy="0"/>
          <a:chOff x="0" y="0"/>
          <a:chExt cx="0" cy="0"/>
        </a:xfrm>
      </p:grpSpPr>
      <p:sp>
        <p:nvSpPr>
          <p:cNvPr id="98" name="Google Shape;98;p20"/>
          <p:cNvSpPr/>
          <p:nvPr/>
        </p:nvSpPr>
        <p:spPr>
          <a:xfrm>
            <a:off x="-1" y="0"/>
            <a:ext cx="9144001" cy="4792905"/>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20"/>
          <p:cNvSpPr txBox="1"/>
          <p:nvPr>
            <p:ph idx="1" type="body"/>
          </p:nvPr>
        </p:nvSpPr>
        <p:spPr>
          <a:xfrm>
            <a:off x="224416" y="202609"/>
            <a:ext cx="8324645" cy="394289"/>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9EA2A2"/>
              </a:buClr>
              <a:buSzPts val="1800"/>
              <a:buFont typeface="Arial"/>
              <a:buNone/>
              <a:defRPr b="0" i="0" sz="1800" u="none" cap="none" strike="noStrike">
                <a:solidFill>
                  <a:srgbClr val="9EA2A2"/>
                </a:solidFill>
                <a:latin typeface="Arial"/>
                <a:ea typeface="Arial"/>
                <a:cs typeface="Arial"/>
                <a:sym typeface="Arial"/>
              </a:defRPr>
            </a:lvl1pPr>
            <a:lvl2pPr indent="-342900" lvl="1" marL="914400" marR="0" rtl="0" algn="l">
              <a:spcBef>
                <a:spcPts val="2000"/>
              </a:spcBef>
              <a:spcAft>
                <a:spcPts val="0"/>
              </a:spcAft>
              <a:buClr>
                <a:schemeClr val="lt1"/>
              </a:buClr>
              <a:buSzPts val="1800"/>
              <a:buFont typeface="Noto Sans Symbols"/>
              <a:buChar char="▪"/>
              <a:defRPr b="0" i="0" sz="1800" u="none" cap="none" strike="noStrike">
                <a:solidFill>
                  <a:schemeClr val="lt1"/>
                </a:solidFill>
                <a:latin typeface="Arial"/>
                <a:ea typeface="Arial"/>
                <a:cs typeface="Arial"/>
                <a:sym typeface="Arial"/>
              </a:defRPr>
            </a:lvl2pPr>
            <a:lvl3pPr indent="-317500" lvl="2" marL="1371600" marR="0" rtl="0" algn="l">
              <a:spcBef>
                <a:spcPts val="6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4pPr>
            <a:lvl5pPr indent="-355600" lvl="4" marL="2286000" marR="0" rtl="0" algn="l">
              <a:spcBef>
                <a:spcPts val="400"/>
              </a:spcBef>
              <a:spcAft>
                <a:spcPts val="0"/>
              </a:spcAft>
              <a:buClr>
                <a:srgbClr val="424242"/>
              </a:buClr>
              <a:buSzPts val="2000"/>
              <a:buFont typeface="Arial"/>
              <a:buChar char="»"/>
              <a:defRPr b="0" i="0" sz="2000" u="none" cap="none" strike="noStrike">
                <a:solidFill>
                  <a:srgbClr val="424242"/>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100" name="Google Shape;100;p20"/>
          <p:cNvCxnSpPr/>
          <p:nvPr/>
        </p:nvCxnSpPr>
        <p:spPr>
          <a:xfrm>
            <a:off x="0" y="596897"/>
            <a:ext cx="9144000" cy="0"/>
          </a:xfrm>
          <a:prstGeom prst="straightConnector1">
            <a:avLst/>
          </a:prstGeom>
          <a:noFill/>
          <a:ln cap="flat" cmpd="sng" w="9525">
            <a:solidFill>
              <a:schemeClr val="lt1"/>
            </a:solidFill>
            <a:prstDash val="solid"/>
            <a:round/>
            <a:headEnd len="sm" w="sm" type="none"/>
            <a:tailEnd len="sm" w="sm" type="none"/>
          </a:ln>
        </p:spPr>
      </p:cxnSp>
      <p:sp>
        <p:nvSpPr>
          <p:cNvPr id="101" name="Google Shape;101;p20"/>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2" name="Google Shape;102;p20"/>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03" name="Google Shape;103;p20"/>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04" name="Google Shape;104;p20"/>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05" name="Google Shape;105;p20"/>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
        <p:nvSpPr>
          <p:cNvPr id="106" name="Google Shape;106;p20"/>
          <p:cNvSpPr txBox="1"/>
          <p:nvPr>
            <p:ph idx="2" type="body"/>
          </p:nvPr>
        </p:nvSpPr>
        <p:spPr>
          <a:xfrm>
            <a:off x="223838" y="761831"/>
            <a:ext cx="5113337" cy="1426564"/>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000"/>
              </a:spcBef>
              <a:spcAft>
                <a:spcPts val="0"/>
              </a:spcAft>
              <a:buClr>
                <a:srgbClr val="FFFFFF"/>
              </a:buClr>
              <a:buSzPts val="280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600"/>
              </a:spcBef>
              <a:spcAft>
                <a:spcPts val="0"/>
              </a:spcAft>
              <a:buClr>
                <a:srgbClr val="FFFFFF"/>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486">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107" name="Shape 107"/>
        <p:cNvGrpSpPr/>
        <p:nvPr/>
      </p:nvGrpSpPr>
      <p:grpSpPr>
        <a:xfrm>
          <a:off x="0" y="0"/>
          <a:ext cx="0" cy="0"/>
          <a:chOff x="0" y="0"/>
          <a:chExt cx="0" cy="0"/>
        </a:xfrm>
      </p:grpSpPr>
      <p:cxnSp>
        <p:nvCxnSpPr>
          <p:cNvPr id="108" name="Google Shape;108;p21"/>
          <p:cNvCxnSpPr/>
          <p:nvPr/>
        </p:nvCxnSpPr>
        <p:spPr>
          <a:xfrm>
            <a:off x="-3924" y="2764934"/>
            <a:ext cx="9144000" cy="0"/>
          </a:xfrm>
          <a:prstGeom prst="straightConnector1">
            <a:avLst/>
          </a:prstGeom>
          <a:noFill/>
          <a:ln cap="flat" cmpd="sng" w="9525">
            <a:solidFill>
              <a:srgbClr val="D6001C"/>
            </a:solidFill>
            <a:prstDash val="solid"/>
            <a:round/>
            <a:headEnd len="sm" w="sm" type="none"/>
            <a:tailEnd len="sm" w="sm" type="none"/>
          </a:ln>
        </p:spPr>
      </p:cxnSp>
      <p:sp>
        <p:nvSpPr>
          <p:cNvPr id="109" name="Google Shape;109;p21"/>
          <p:cNvSpPr txBox="1"/>
          <p:nvPr/>
        </p:nvSpPr>
        <p:spPr>
          <a:xfrm>
            <a:off x="214255" y="840664"/>
            <a:ext cx="8315851" cy="54304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4585A"/>
              </a:buClr>
              <a:buSzPts val="4800"/>
              <a:buFont typeface="Arial"/>
              <a:buNone/>
            </a:pPr>
            <a:r>
              <a:rPr b="1" i="0" lang="en" sz="4800" u="none" cap="none" strike="noStrike">
                <a:solidFill>
                  <a:srgbClr val="54585A"/>
                </a:solidFill>
                <a:latin typeface="Arial"/>
                <a:ea typeface="Arial"/>
                <a:cs typeface="Arial"/>
                <a:sym typeface="Arial"/>
              </a:rPr>
              <a:t>Divider Slide 1</a:t>
            </a:r>
            <a:br>
              <a:rPr b="1" i="0" lang="en" sz="4800" u="none" cap="none" strike="noStrike">
                <a:solidFill>
                  <a:srgbClr val="54585A"/>
                </a:solidFill>
                <a:latin typeface="Arial"/>
                <a:ea typeface="Arial"/>
                <a:cs typeface="Arial"/>
                <a:sym typeface="Arial"/>
              </a:rPr>
            </a:br>
            <a:r>
              <a:rPr b="1" i="0" lang="en" sz="4800" u="none" cap="none" strike="noStrike">
                <a:solidFill>
                  <a:srgbClr val="54585A"/>
                </a:solidFill>
                <a:latin typeface="Arial"/>
                <a:ea typeface="Arial"/>
                <a:cs typeface="Arial"/>
                <a:sym typeface="Arial"/>
              </a:rPr>
              <a:t>Two Lines Max</a:t>
            </a:r>
            <a:endParaRPr b="1" i="0" sz="4800" u="none" cap="none" strike="noStrike">
              <a:solidFill>
                <a:srgbClr val="54585A"/>
              </a:solidFill>
              <a:latin typeface="Arial"/>
              <a:ea typeface="Arial"/>
              <a:cs typeface="Arial"/>
              <a:sym typeface="Arial"/>
            </a:endParaRPr>
          </a:p>
        </p:txBody>
      </p:sp>
      <p:sp>
        <p:nvSpPr>
          <p:cNvPr id="110" name="Google Shape;110;p21"/>
          <p:cNvSpPr/>
          <p:nvPr/>
        </p:nvSpPr>
        <p:spPr>
          <a:xfrm>
            <a:off x="1" y="2803502"/>
            <a:ext cx="9144000" cy="2356118"/>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21"/>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12" name="Google Shape;112;p21"/>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13" name="Google Shape;113;p21"/>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14" name="Google Shape;114;p21"/>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15" name="Shape 115"/>
        <p:cNvGrpSpPr/>
        <p:nvPr/>
      </p:nvGrpSpPr>
      <p:grpSpPr>
        <a:xfrm>
          <a:off x="0" y="0"/>
          <a:ext cx="0" cy="0"/>
          <a:chOff x="0" y="0"/>
          <a:chExt cx="0" cy="0"/>
        </a:xfrm>
      </p:grpSpPr>
      <p:sp>
        <p:nvSpPr>
          <p:cNvPr id="116" name="Google Shape;116;p22"/>
          <p:cNvSpPr/>
          <p:nvPr/>
        </p:nvSpPr>
        <p:spPr>
          <a:xfrm>
            <a:off x="0" y="1"/>
            <a:ext cx="9144000" cy="4779168"/>
          </a:xfrm>
          <a:prstGeom prst="rect">
            <a:avLst/>
          </a:prstGeom>
          <a:solidFill>
            <a:srgbClr val="5458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22"/>
          <p:cNvSpPr txBox="1"/>
          <p:nvPr>
            <p:ph type="ctrTitle"/>
          </p:nvPr>
        </p:nvSpPr>
        <p:spPr>
          <a:xfrm>
            <a:off x="214255" y="840664"/>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p22"/>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22"/>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20" name="Google Shape;120;p22"/>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21" name="Google Shape;121;p22"/>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22" name="Google Shape;122;p22"/>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23" name="Shape 123"/>
        <p:cNvGrpSpPr/>
        <p:nvPr/>
      </p:nvGrpSpPr>
      <p:grpSpPr>
        <a:xfrm>
          <a:off x="0" y="0"/>
          <a:ext cx="0" cy="0"/>
          <a:chOff x="0" y="0"/>
          <a:chExt cx="0" cy="0"/>
        </a:xfrm>
      </p:grpSpPr>
      <p:sp>
        <p:nvSpPr>
          <p:cNvPr id="124" name="Google Shape;124;p23"/>
          <p:cNvSpPr txBox="1"/>
          <p:nvPr>
            <p:ph type="ctrTitle"/>
          </p:nvPr>
        </p:nvSpPr>
        <p:spPr>
          <a:xfrm>
            <a:off x="214255" y="840664"/>
            <a:ext cx="8315851" cy="54304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000"/>
              <a:buFont typeface="Arial"/>
              <a:buNone/>
              <a:defRPr b="1" i="0" sz="5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5" name="Google Shape;125;p23"/>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23"/>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 sz="700" u="none" cap="none" strike="noStrike">
                <a:solidFill>
                  <a:srgbClr val="FFFFFF"/>
                </a:solidFill>
                <a:latin typeface="Arial"/>
                <a:ea typeface="Arial"/>
                <a:cs typeface="Arial"/>
                <a:sym typeface="Arial"/>
              </a:rPr>
              <a:t>11/30/2018</a:t>
            </a:r>
            <a:endParaRPr b="0" i="0" sz="700" u="none" cap="none" strike="noStrike">
              <a:solidFill>
                <a:srgbClr val="FFFFFF"/>
              </a:solidFill>
              <a:latin typeface="Arial"/>
              <a:ea typeface="Arial"/>
              <a:cs typeface="Arial"/>
              <a:sym typeface="Arial"/>
            </a:endParaRPr>
          </a:p>
        </p:txBody>
      </p:sp>
      <p:sp>
        <p:nvSpPr>
          <p:cNvPr id="127" name="Google Shape;127;p23"/>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28" name="Google Shape;128;p23"/>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29" name="Google Shape;129;p23"/>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 sz="700" u="none" cap="none" strike="noStrike">
                <a:solidFill>
                  <a:schemeClr val="lt1"/>
                </a:solidFill>
                <a:latin typeface="Arial"/>
                <a:ea typeface="Arial"/>
                <a:cs typeface="Arial"/>
                <a:sym typeface="Arial"/>
              </a:rPr>
              <a:t>{ INSERT TITLE HERE ]</a:t>
            </a:r>
            <a:endParaRPr b="0" i="0" sz="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0" name="Shape 130"/>
        <p:cNvGrpSpPr/>
        <p:nvPr/>
      </p:nvGrpSpPr>
      <p:grpSpPr>
        <a:xfrm>
          <a:off x="0" y="0"/>
          <a:ext cx="0" cy="0"/>
          <a:chOff x="0" y="0"/>
          <a:chExt cx="0" cy="0"/>
        </a:xfrm>
      </p:grpSpPr>
      <p:sp>
        <p:nvSpPr>
          <p:cNvPr id="131" name="Google Shape;131;p24"/>
          <p:cNvSpPr/>
          <p:nvPr>
            <p:ph idx="2" type="pic"/>
          </p:nvPr>
        </p:nvSpPr>
        <p:spPr>
          <a:xfrm>
            <a:off x="0" y="0"/>
            <a:ext cx="9144000" cy="4735116"/>
          </a:xfrm>
          <a:prstGeom prst="rect">
            <a:avLst/>
          </a:prstGeom>
          <a:noFill/>
          <a:ln>
            <a:noFill/>
          </a:ln>
        </p:spPr>
      </p:sp>
      <p:sp>
        <p:nvSpPr>
          <p:cNvPr id="132" name="Google Shape;132;p24"/>
          <p:cNvSpPr txBox="1"/>
          <p:nvPr>
            <p:ph type="title"/>
          </p:nvPr>
        </p:nvSpPr>
        <p:spPr>
          <a:xfrm>
            <a:off x="220253" y="3401331"/>
            <a:ext cx="8229600" cy="857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5400"/>
              <a:buFont typeface="Arial"/>
              <a:buNone/>
              <a:defRPr b="0" i="0" sz="5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3" name="Google Shape;133;p24"/>
          <p:cNvSpPr/>
          <p:nvPr/>
        </p:nvSpPr>
        <p:spPr>
          <a:xfrm>
            <a:off x="-1" y="4735116"/>
            <a:ext cx="9144001" cy="424504"/>
          </a:xfrm>
          <a:prstGeom prst="rect">
            <a:avLst/>
          </a:prstGeom>
          <a:solidFill>
            <a:srgbClr val="DB09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24"/>
          <p:cNvSpPr txBox="1"/>
          <p:nvPr/>
        </p:nvSpPr>
        <p:spPr>
          <a:xfrm>
            <a:off x="6756400" y="4957840"/>
            <a:ext cx="2133600" cy="93177"/>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 sz="700">
                <a:solidFill>
                  <a:srgbClr val="FFFFFF"/>
                </a:solidFill>
                <a:latin typeface="Arial"/>
                <a:ea typeface="Arial"/>
                <a:cs typeface="Arial"/>
                <a:sym typeface="Arial"/>
              </a:rPr>
              <a:t>11/30/2018</a:t>
            </a:r>
            <a:endParaRPr sz="700">
              <a:solidFill>
                <a:srgbClr val="FFFFFF"/>
              </a:solidFill>
              <a:latin typeface="Arial"/>
              <a:ea typeface="Arial"/>
              <a:cs typeface="Arial"/>
              <a:sym typeface="Arial"/>
            </a:endParaRPr>
          </a:p>
        </p:txBody>
      </p:sp>
      <p:sp>
        <p:nvSpPr>
          <p:cNvPr id="135" name="Google Shape;135;p24"/>
          <p:cNvSpPr txBox="1"/>
          <p:nvPr/>
        </p:nvSpPr>
        <p:spPr>
          <a:xfrm>
            <a:off x="6756400" y="4792905"/>
            <a:ext cx="2133600" cy="9317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 sz="900">
                <a:solidFill>
                  <a:srgbClr val="FFFFFF"/>
                </a:solidFill>
                <a:latin typeface="Arial"/>
                <a:ea typeface="Arial"/>
                <a:cs typeface="Arial"/>
                <a:sym typeface="Arial"/>
              </a:rPr>
              <a:t>‹#›</a:t>
            </a:fld>
            <a:endParaRPr b="0" sz="900">
              <a:solidFill>
                <a:srgbClr val="FFFFFF"/>
              </a:solidFill>
              <a:latin typeface="Arial"/>
              <a:ea typeface="Arial"/>
              <a:cs typeface="Arial"/>
              <a:sym typeface="Arial"/>
            </a:endParaRPr>
          </a:p>
        </p:txBody>
      </p:sp>
      <p:pic>
        <p:nvPicPr>
          <p:cNvPr descr="C:\Users\gardel2\Desktop\Brand Approval Reference\RF0010 Rensselaer Logos\RF0010-02 Rensselaer Small Logo\RGB\PNGs\RF0010-02 RPI Small Logo RGB-White.png" id="136" name="Google Shape;136;p24"/>
          <p:cNvPicPr preferRelativeResize="0"/>
          <p:nvPr/>
        </p:nvPicPr>
        <p:blipFill rotWithShape="1">
          <a:blip r:embed="rId2">
            <a:alphaModFix/>
          </a:blip>
          <a:srcRect b="0" l="0" r="0" t="0"/>
          <a:stretch/>
        </p:blipFill>
        <p:spPr>
          <a:xfrm>
            <a:off x="320675" y="4832215"/>
            <a:ext cx="1231106" cy="230307"/>
          </a:xfrm>
          <a:prstGeom prst="rect">
            <a:avLst/>
          </a:prstGeom>
          <a:noFill/>
          <a:ln>
            <a:noFill/>
          </a:ln>
        </p:spPr>
      </p:pic>
      <p:sp>
        <p:nvSpPr>
          <p:cNvPr id="137" name="Google Shape;137;p24"/>
          <p:cNvSpPr txBox="1"/>
          <p:nvPr/>
        </p:nvSpPr>
        <p:spPr>
          <a:xfrm>
            <a:off x="2764603" y="4957839"/>
            <a:ext cx="3632200" cy="31280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 sz="700">
                <a:solidFill>
                  <a:schemeClr val="lt1"/>
                </a:solidFill>
                <a:latin typeface="Arial"/>
                <a:ea typeface="Arial"/>
                <a:cs typeface="Arial"/>
                <a:sym typeface="Arial"/>
              </a:rPr>
              <a:t>{ INSERT TITLE HERE ]</a:t>
            </a:r>
            <a:endParaRPr sz="700">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38" name="Shape 138"/>
        <p:cNvGrpSpPr/>
        <p:nvPr/>
      </p:nvGrpSpPr>
      <p:grpSpPr>
        <a:xfrm>
          <a:off x="0" y="0"/>
          <a:ext cx="0" cy="0"/>
          <a:chOff x="0" y="0"/>
          <a:chExt cx="0" cy="0"/>
        </a:xfrm>
      </p:grpSpPr>
      <p:sp>
        <p:nvSpPr>
          <p:cNvPr id="139" name="Google Shape;139;p25"/>
          <p:cNvSpPr/>
          <p:nvPr/>
        </p:nvSpPr>
        <p:spPr>
          <a:xfrm>
            <a:off x="0" y="0"/>
            <a:ext cx="9144001" cy="5143500"/>
          </a:xfrm>
          <a:prstGeom prst="rect">
            <a:avLst/>
          </a:prstGeom>
          <a:solidFill>
            <a:srgbClr val="54585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0" name="Google Shape;140;p25"/>
          <p:cNvPicPr preferRelativeResize="0"/>
          <p:nvPr/>
        </p:nvPicPr>
        <p:blipFill rotWithShape="1">
          <a:blip r:embed="rId2">
            <a:alphaModFix/>
          </a:blip>
          <a:srcRect b="0" l="0" r="6662" t="0"/>
          <a:stretch/>
        </p:blipFill>
        <p:spPr>
          <a:xfrm>
            <a:off x="3175" y="0"/>
            <a:ext cx="9144000" cy="5143499"/>
          </a:xfrm>
          <a:prstGeom prst="rect">
            <a:avLst/>
          </a:prstGeom>
          <a:noFill/>
          <a:ln>
            <a:noFill/>
          </a:ln>
        </p:spPr>
      </p:pic>
      <p:pic>
        <p:nvPicPr>
          <p:cNvPr descr="C:\Users\gardel2\Desktop\PPT Template\Placed\RF0010-01 Rensselaer Large Logo-with Tagline RGB-White.png" id="141" name="Google Shape;141;p25"/>
          <p:cNvPicPr preferRelativeResize="0"/>
          <p:nvPr/>
        </p:nvPicPr>
        <p:blipFill rotWithShape="1">
          <a:blip r:embed="rId3">
            <a:alphaModFix/>
          </a:blip>
          <a:srcRect b="0" l="0" r="0" t="0"/>
          <a:stretch/>
        </p:blipFill>
        <p:spPr>
          <a:xfrm>
            <a:off x="1575385" y="2025743"/>
            <a:ext cx="4499684" cy="109201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142" name="Shape 142"/>
        <p:cNvGrpSpPr/>
        <p:nvPr/>
      </p:nvGrpSpPr>
      <p:grpSpPr>
        <a:xfrm>
          <a:off x="0" y="0"/>
          <a:ext cx="0" cy="0"/>
          <a:chOff x="0" y="0"/>
          <a:chExt cx="0" cy="0"/>
        </a:xfrm>
      </p:grpSpPr>
      <p:sp>
        <p:nvSpPr>
          <p:cNvPr id="143" name="Google Shape;143;p26"/>
          <p:cNvSpPr/>
          <p:nvPr/>
        </p:nvSpPr>
        <p:spPr>
          <a:xfrm>
            <a:off x="0" y="0"/>
            <a:ext cx="9144001" cy="5143500"/>
          </a:xfrm>
          <a:prstGeom prst="rect">
            <a:avLst/>
          </a:prstGeom>
          <a:solidFill>
            <a:srgbClr val="D6001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C:\Users\gardel2\Desktop\PPT Template\Placed\RF0010-01 Rensselaer Large Logo-with Tagline RGB-White.png" id="144" name="Google Shape;144;p26"/>
          <p:cNvPicPr preferRelativeResize="0"/>
          <p:nvPr/>
        </p:nvPicPr>
        <p:blipFill rotWithShape="1">
          <a:blip r:embed="rId2">
            <a:alphaModFix/>
          </a:blip>
          <a:srcRect b="0" l="0" r="0" t="0"/>
          <a:stretch/>
        </p:blipFill>
        <p:spPr>
          <a:xfrm>
            <a:off x="1575385" y="2025743"/>
            <a:ext cx="4499684" cy="109201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ctrTitle"/>
          </p:nvPr>
        </p:nvSpPr>
        <p:spPr>
          <a:xfrm>
            <a:off x="0" y="2381101"/>
            <a:ext cx="9144000" cy="173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4800"/>
              <a:buFont typeface="Arial"/>
              <a:buNone/>
            </a:pPr>
            <a:r>
              <a:rPr lang="en"/>
              <a:t>Graph Coloring for Efficient Code Compilation</a:t>
            </a:r>
            <a:endParaRPr/>
          </a:p>
        </p:txBody>
      </p:sp>
      <p:sp>
        <p:nvSpPr>
          <p:cNvPr id="151" name="Google Shape;151;p27"/>
          <p:cNvSpPr txBox="1"/>
          <p:nvPr>
            <p:ph idx="1" type="subTitle"/>
          </p:nvPr>
        </p:nvSpPr>
        <p:spPr>
          <a:xfrm>
            <a:off x="241563" y="4513619"/>
            <a:ext cx="83160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400"/>
              <a:buNone/>
            </a:pPr>
            <a:r>
              <a:rPr lang="en"/>
              <a:t>CSCI  |  12/04/2025</a:t>
            </a:r>
            <a:endParaRPr/>
          </a:p>
        </p:txBody>
      </p:sp>
      <p:sp>
        <p:nvSpPr>
          <p:cNvPr id="152" name="Google Shape;152;p27"/>
          <p:cNvSpPr txBox="1"/>
          <p:nvPr>
            <p:ph idx="1" type="subTitle"/>
          </p:nvPr>
        </p:nvSpPr>
        <p:spPr>
          <a:xfrm>
            <a:off x="241563" y="4056419"/>
            <a:ext cx="83160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400"/>
              <a:buNone/>
            </a:pPr>
            <a:r>
              <a:rPr lang="en"/>
              <a:t>Andrew Erickson, Ethan Rapa, Haven Cook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idx="1" type="body"/>
          </p:nvPr>
        </p:nvSpPr>
        <p:spPr>
          <a:xfrm>
            <a:off x="224425" y="677875"/>
            <a:ext cx="8677200" cy="37857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Output assembly of compiled C code can vary heavily while retaining function</a:t>
            </a:r>
            <a:endParaRPr sz="2000"/>
          </a:p>
          <a:p>
            <a:pPr indent="-355600" lvl="1" marL="914400" rtl="0" algn="l">
              <a:spcBef>
                <a:spcPts val="0"/>
              </a:spcBef>
              <a:spcAft>
                <a:spcPts val="0"/>
              </a:spcAft>
              <a:buSzPts val="2000"/>
              <a:buChar char="▪"/>
            </a:pPr>
            <a:r>
              <a:rPr lang="en" sz="2000"/>
              <a:t>Often targets programmer’s intent</a:t>
            </a:r>
            <a:endParaRPr sz="2000"/>
          </a:p>
          <a:p>
            <a:pPr indent="-355600" lvl="0" marL="457200" rtl="0" algn="l">
              <a:spcBef>
                <a:spcPts val="0"/>
              </a:spcBef>
              <a:spcAft>
                <a:spcPts val="0"/>
              </a:spcAft>
              <a:buSzPts val="2000"/>
              <a:buChar char="•"/>
            </a:pPr>
            <a:r>
              <a:rPr lang="en" sz="2000"/>
              <a:t>Many ways a compiler can optimize code for specific hardware and software</a:t>
            </a:r>
            <a:endParaRPr sz="2000"/>
          </a:p>
          <a:p>
            <a:pPr indent="-355600" lvl="1" marL="914400" rtl="0" algn="l">
              <a:spcBef>
                <a:spcPts val="0"/>
              </a:spcBef>
              <a:spcAft>
                <a:spcPts val="0"/>
              </a:spcAft>
              <a:buSzPts val="2000"/>
              <a:buChar char="▪"/>
            </a:pPr>
            <a:r>
              <a:rPr lang="en" sz="2000"/>
              <a:t>In this case, register allocation (graph coloring problem)</a:t>
            </a:r>
            <a:endParaRPr sz="2000"/>
          </a:p>
          <a:p>
            <a:pPr indent="-355600" lvl="1" marL="914400" rtl="0" algn="l">
              <a:spcBef>
                <a:spcPts val="600"/>
              </a:spcBef>
              <a:spcAft>
                <a:spcPts val="0"/>
              </a:spcAft>
              <a:buSzPts val="2000"/>
              <a:buFont typeface="Arial"/>
              <a:buChar char="▪"/>
            </a:pPr>
            <a:r>
              <a:rPr lang="en" sz="2000"/>
              <a:t>Each color corresponds to a machine register</a:t>
            </a:r>
            <a:endParaRPr sz="2000"/>
          </a:p>
          <a:p>
            <a:pPr indent="-355600" lvl="0" marL="457200" rtl="0" algn="l">
              <a:spcBef>
                <a:spcPts val="600"/>
              </a:spcBef>
              <a:spcAft>
                <a:spcPts val="0"/>
              </a:spcAft>
              <a:buSzPts val="2000"/>
              <a:buFont typeface="Arial"/>
              <a:buChar char="•"/>
            </a:pPr>
            <a:r>
              <a:rPr lang="en" sz="2000"/>
              <a:t>Goal: assign registers without conflict</a:t>
            </a:r>
            <a:endParaRPr sz="2000"/>
          </a:p>
          <a:p>
            <a:pPr indent="-355600" lvl="1" marL="914400" rtl="0" algn="l">
              <a:spcBef>
                <a:spcPts val="600"/>
              </a:spcBef>
              <a:spcAft>
                <a:spcPts val="0"/>
              </a:spcAft>
              <a:buSzPts val="2000"/>
              <a:buFont typeface="Arial"/>
              <a:buChar char="▪"/>
            </a:pPr>
            <a:r>
              <a:rPr lang="en" sz="2000"/>
              <a:t>If registers are limited → spilling to memory occur</a:t>
            </a:r>
            <a:endParaRPr sz="2000"/>
          </a:p>
          <a:p>
            <a:pPr indent="-355600" lvl="1" marL="914400" rtl="0" algn="l">
              <a:spcBef>
                <a:spcPts val="600"/>
              </a:spcBef>
              <a:spcAft>
                <a:spcPts val="0"/>
              </a:spcAft>
              <a:buSzPts val="2000"/>
              <a:buChar char="▪"/>
            </a:pPr>
            <a:r>
              <a:rPr lang="en" sz="2000"/>
              <a:t>Better coloring -&gt; more </a:t>
            </a:r>
            <a:r>
              <a:rPr lang="en" sz="2000"/>
              <a:t>efficient</a:t>
            </a:r>
            <a:r>
              <a:rPr lang="en" sz="2000"/>
              <a:t> compiled code</a:t>
            </a:r>
            <a:endParaRPr sz="2000"/>
          </a:p>
        </p:txBody>
      </p:sp>
      <p:sp>
        <p:nvSpPr>
          <p:cNvPr id="158" name="Google Shape;158;p28"/>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Background to Register Allocation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idx="1" type="body"/>
          </p:nvPr>
        </p:nvSpPr>
        <p:spPr>
          <a:xfrm>
            <a:off x="224425" y="677875"/>
            <a:ext cx="8677200" cy="37857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t/>
            </a:r>
            <a:endParaRPr sz="2000"/>
          </a:p>
        </p:txBody>
      </p:sp>
      <p:sp>
        <p:nvSpPr>
          <p:cNvPr id="164" name="Google Shape;164;p29"/>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Background to Register Allocation</a:t>
            </a:r>
            <a:endParaRPr/>
          </a:p>
        </p:txBody>
      </p:sp>
      <p:pic>
        <p:nvPicPr>
          <p:cNvPr id="165" name="Google Shape;165;p29"/>
          <p:cNvPicPr preferRelativeResize="0"/>
          <p:nvPr/>
        </p:nvPicPr>
        <p:blipFill>
          <a:blip r:embed="rId3">
            <a:alphaModFix/>
          </a:blip>
          <a:stretch>
            <a:fillRect/>
          </a:stretch>
        </p:blipFill>
        <p:spPr>
          <a:xfrm>
            <a:off x="628463" y="1170263"/>
            <a:ext cx="7887075" cy="2800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Next Steps: Interference Graph</a:t>
            </a:r>
            <a:endParaRPr/>
          </a:p>
        </p:txBody>
      </p:sp>
      <p:pic>
        <p:nvPicPr>
          <p:cNvPr id="171" name="Google Shape;171;p30" title="Airbrush-Image-Enhancer-1761189040016.jpg"/>
          <p:cNvPicPr preferRelativeResize="0"/>
          <p:nvPr/>
        </p:nvPicPr>
        <p:blipFill>
          <a:blip r:embed="rId3">
            <a:alphaModFix/>
          </a:blip>
          <a:stretch>
            <a:fillRect/>
          </a:stretch>
        </p:blipFill>
        <p:spPr>
          <a:xfrm>
            <a:off x="290150" y="798350"/>
            <a:ext cx="8563702" cy="3826075"/>
          </a:xfrm>
          <a:prstGeom prst="rect">
            <a:avLst/>
          </a:prstGeom>
          <a:noFill/>
          <a:ln>
            <a:noFill/>
          </a:ln>
        </p:spPr>
      </p:pic>
      <p:sp>
        <p:nvSpPr>
          <p:cNvPr id="172" name="Google Shape;172;p30"/>
          <p:cNvSpPr/>
          <p:nvPr/>
        </p:nvSpPr>
        <p:spPr>
          <a:xfrm>
            <a:off x="3983175" y="1437400"/>
            <a:ext cx="1541400" cy="762000"/>
          </a:xfrm>
          <a:prstGeom prst="rect">
            <a:avLst/>
          </a:prstGeom>
          <a:noFill/>
          <a:ln cap="flat" cmpd="sng" w="38100">
            <a:solidFill>
              <a:srgbClr val="D600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Next Steps: Interference Graph </a:t>
            </a:r>
            <a:endParaRPr/>
          </a:p>
        </p:txBody>
      </p:sp>
      <p:pic>
        <p:nvPicPr>
          <p:cNvPr id="178" name="Google Shape;178;p31"/>
          <p:cNvPicPr preferRelativeResize="0"/>
          <p:nvPr/>
        </p:nvPicPr>
        <p:blipFill>
          <a:blip r:embed="rId3">
            <a:alphaModFix/>
          </a:blip>
          <a:stretch>
            <a:fillRect/>
          </a:stretch>
        </p:blipFill>
        <p:spPr>
          <a:xfrm>
            <a:off x="983588" y="860539"/>
            <a:ext cx="7176825" cy="3422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Interference Graph Construction </a:t>
            </a:r>
            <a:endParaRPr/>
          </a:p>
        </p:txBody>
      </p:sp>
      <p:pic>
        <p:nvPicPr>
          <p:cNvPr id="184" name="Google Shape;184;p32"/>
          <p:cNvPicPr preferRelativeResize="0"/>
          <p:nvPr/>
        </p:nvPicPr>
        <p:blipFill>
          <a:blip r:embed="rId3">
            <a:alphaModFix/>
          </a:blip>
          <a:stretch>
            <a:fillRect/>
          </a:stretch>
        </p:blipFill>
        <p:spPr>
          <a:xfrm>
            <a:off x="304799" y="793750"/>
            <a:ext cx="1915125" cy="3756325"/>
          </a:xfrm>
          <a:prstGeom prst="rect">
            <a:avLst/>
          </a:prstGeom>
          <a:noFill/>
          <a:ln>
            <a:noFill/>
          </a:ln>
        </p:spPr>
      </p:pic>
      <p:pic>
        <p:nvPicPr>
          <p:cNvPr id="185" name="Google Shape;185;p32"/>
          <p:cNvPicPr preferRelativeResize="0"/>
          <p:nvPr/>
        </p:nvPicPr>
        <p:blipFill>
          <a:blip r:embed="rId4">
            <a:alphaModFix/>
          </a:blip>
          <a:stretch>
            <a:fillRect/>
          </a:stretch>
        </p:blipFill>
        <p:spPr>
          <a:xfrm>
            <a:off x="2596275" y="793750"/>
            <a:ext cx="2513950" cy="3756325"/>
          </a:xfrm>
          <a:prstGeom prst="rect">
            <a:avLst/>
          </a:prstGeom>
          <a:noFill/>
          <a:ln>
            <a:noFill/>
          </a:ln>
        </p:spPr>
      </p:pic>
      <p:sp>
        <p:nvSpPr>
          <p:cNvPr id="186" name="Google Shape;186;p32"/>
          <p:cNvSpPr txBox="1"/>
          <p:nvPr/>
        </p:nvSpPr>
        <p:spPr>
          <a:xfrm>
            <a:off x="4980350" y="793738"/>
            <a:ext cx="3852000" cy="33192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LLVM generates an </a:t>
            </a:r>
            <a:r>
              <a:rPr b="1" lang="en" sz="2000"/>
              <a:t>IR file</a:t>
            </a:r>
            <a:endParaRPr b="1" sz="2000"/>
          </a:p>
          <a:p>
            <a:pPr indent="-355600" lvl="1" marL="914400" rtl="0" algn="l">
              <a:spcBef>
                <a:spcPts val="0"/>
              </a:spcBef>
              <a:spcAft>
                <a:spcPts val="0"/>
              </a:spcAft>
              <a:buSzPts val="2000"/>
              <a:buChar char="○"/>
            </a:pPr>
            <a:r>
              <a:rPr lang="en" sz="2000"/>
              <a:t>Uses static single assignment (</a:t>
            </a:r>
            <a:r>
              <a:rPr i="1" lang="en" sz="2000"/>
              <a:t>SSA</a:t>
            </a:r>
            <a:r>
              <a:rPr lang="en" sz="2000"/>
              <a:t>).</a:t>
            </a:r>
            <a:endParaRPr sz="2000"/>
          </a:p>
          <a:p>
            <a:pPr indent="-355600" lvl="1" marL="914400" rtl="0" algn="l">
              <a:spcBef>
                <a:spcPts val="0"/>
              </a:spcBef>
              <a:spcAft>
                <a:spcPts val="0"/>
              </a:spcAft>
              <a:buSzPts val="2000"/>
              <a:buChar char="○"/>
            </a:pPr>
            <a:r>
              <a:rPr i="1" lang="en" sz="2000"/>
              <a:t>Virtual registers</a:t>
            </a:r>
            <a:r>
              <a:rPr lang="en" sz="2000"/>
              <a:t> assigned only once</a:t>
            </a:r>
            <a:endParaRPr sz="2000"/>
          </a:p>
          <a:p>
            <a:pPr indent="-355600" lvl="1" marL="914400" rtl="0" algn="l">
              <a:spcBef>
                <a:spcPts val="0"/>
              </a:spcBef>
              <a:spcAft>
                <a:spcPts val="0"/>
              </a:spcAft>
              <a:buSzPts val="2000"/>
              <a:buChar char="○"/>
            </a:pPr>
            <a:r>
              <a:rPr lang="en" sz="2000"/>
              <a:t>Registers that </a:t>
            </a:r>
            <a:r>
              <a:rPr b="1" lang="en" sz="2000"/>
              <a:t>overlap </a:t>
            </a:r>
            <a:r>
              <a:rPr lang="en" sz="2000"/>
              <a:t>receive an edge</a:t>
            </a:r>
            <a:endParaRPr sz="2000"/>
          </a:p>
          <a:p>
            <a:pPr indent="0" lvl="0" marL="914400" rtl="0" algn="l">
              <a:spcBef>
                <a:spcPts val="0"/>
              </a:spcBef>
              <a:spcAft>
                <a:spcPts val="0"/>
              </a:spcAft>
              <a:buNone/>
            </a:pPr>
            <a:r>
              <a:t/>
            </a:r>
            <a:endParaRPr sz="2000"/>
          </a:p>
          <a:p>
            <a:pPr indent="-355600" lvl="0" marL="457200" rtl="0" algn="l">
              <a:spcBef>
                <a:spcPts val="0"/>
              </a:spcBef>
              <a:spcAft>
                <a:spcPts val="0"/>
              </a:spcAft>
              <a:buSzPts val="2000"/>
              <a:buChar char="●"/>
            </a:pPr>
            <a:r>
              <a:rPr lang="en" sz="2000"/>
              <a:t>φ-Nodes collect additional information about spill cost</a:t>
            </a:r>
            <a:endParaRPr sz="2000"/>
          </a:p>
          <a:p>
            <a:pPr indent="-355600" lvl="1" marL="914400" rtl="0" algn="l">
              <a:spcBef>
                <a:spcPts val="0"/>
              </a:spcBef>
              <a:spcAft>
                <a:spcPts val="0"/>
              </a:spcAft>
              <a:buSzPts val="2000"/>
              <a:buChar char="○"/>
            </a:pPr>
            <a:r>
              <a:rPr lang="en" sz="2000"/>
              <a:t>Indicate what can </a:t>
            </a:r>
            <a:r>
              <a:rPr b="1" lang="en" sz="2000"/>
              <a:t>share registers in loops</a:t>
            </a:r>
            <a:endParaRPr b="1"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Example Compilation</a:t>
            </a:r>
            <a:endParaRPr/>
          </a:p>
        </p:txBody>
      </p:sp>
      <p:sp>
        <p:nvSpPr>
          <p:cNvPr id="192" name="Google Shape;192;p33"/>
          <p:cNvSpPr txBox="1"/>
          <p:nvPr/>
        </p:nvSpPr>
        <p:spPr>
          <a:xfrm>
            <a:off x="123150" y="1984250"/>
            <a:ext cx="3000000" cy="14160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int </a:t>
            </a:r>
            <a:r>
              <a:rPr lang="en" sz="1000">
                <a:solidFill>
                  <a:srgbClr val="A9B7C6"/>
                </a:solidFill>
                <a:highlight>
                  <a:srgbClr val="2B2B2B"/>
                </a:highlight>
                <a:latin typeface="Courier New"/>
                <a:ea typeface="Courier New"/>
                <a:cs typeface="Courier New"/>
                <a:sym typeface="Courier New"/>
              </a:rPr>
              <a:t>sum(</a:t>
            </a:r>
            <a:r>
              <a:rPr lang="en" sz="1000">
                <a:solidFill>
                  <a:srgbClr val="CC7832"/>
                </a:solidFill>
                <a:highlight>
                  <a:srgbClr val="2B2B2B"/>
                </a:highlight>
                <a:latin typeface="Courier New"/>
                <a:ea typeface="Courier New"/>
                <a:cs typeface="Courier New"/>
                <a:sym typeface="Courier New"/>
              </a:rPr>
              <a:t>int </a:t>
            </a:r>
            <a:r>
              <a:rPr lang="en" sz="1000">
                <a:solidFill>
                  <a:srgbClr val="A9B7C6"/>
                </a:solidFill>
                <a:highlight>
                  <a:srgbClr val="2B2B2B"/>
                </a:highlight>
                <a:latin typeface="Courier New"/>
                <a:ea typeface="Courier New"/>
                <a:cs typeface="Courier New"/>
                <a:sym typeface="Courier New"/>
              </a:rPr>
              <a:t>*data</a:t>
            </a:r>
            <a:r>
              <a:rPr lang="en" sz="1000">
                <a:solidFill>
                  <a:srgbClr val="CC7832"/>
                </a:solidFill>
                <a:highlight>
                  <a:srgbClr val="2B2B2B"/>
                </a:highlight>
                <a:latin typeface="Courier New"/>
                <a:ea typeface="Courier New"/>
                <a:cs typeface="Courier New"/>
                <a:sym typeface="Courier New"/>
              </a:rPr>
              <a:t>, int </a:t>
            </a:r>
            <a:r>
              <a:rPr lang="en" sz="1000">
                <a:solidFill>
                  <a:srgbClr val="A9B7C6"/>
                </a:solidFill>
                <a:highlight>
                  <a:srgbClr val="2B2B2B"/>
                </a:highlight>
                <a:latin typeface="Courier New"/>
                <a:ea typeface="Courier New"/>
                <a:cs typeface="Courier New"/>
                <a:sym typeface="Courier New"/>
              </a:rPr>
              <a:t>len)</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int </a:t>
            </a:r>
            <a:r>
              <a:rPr lang="en" sz="1000">
                <a:solidFill>
                  <a:srgbClr val="A9B7C6"/>
                </a:solidFill>
                <a:highlight>
                  <a:srgbClr val="2B2B2B"/>
                </a:highlight>
                <a:latin typeface="Courier New"/>
                <a:ea typeface="Courier New"/>
                <a:cs typeface="Courier New"/>
                <a:sym typeface="Courier New"/>
              </a:rPr>
              <a:t>s = </a:t>
            </a:r>
            <a:r>
              <a:rPr lang="en" sz="1000">
                <a:solidFill>
                  <a:srgbClr val="6897BB"/>
                </a:solidFill>
                <a:highlight>
                  <a:srgbClr val="2B2B2B"/>
                </a:highlight>
                <a:latin typeface="Courier New"/>
                <a:ea typeface="Courier New"/>
                <a:cs typeface="Courier New"/>
                <a:sym typeface="Courier New"/>
              </a:rPr>
              <a:t>0</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   for </a:t>
            </a:r>
            <a:r>
              <a:rPr lang="en" sz="1000">
                <a:solidFill>
                  <a:srgbClr val="A9B7C6"/>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int </a:t>
            </a:r>
            <a:r>
              <a:rPr lang="en" sz="1000">
                <a:solidFill>
                  <a:srgbClr val="A9B7C6"/>
                </a:solidFill>
                <a:highlight>
                  <a:srgbClr val="2B2B2B"/>
                </a:highlight>
                <a:latin typeface="Courier New"/>
                <a:ea typeface="Courier New"/>
                <a:cs typeface="Courier New"/>
                <a:sym typeface="Courier New"/>
              </a:rPr>
              <a:t>i = </a:t>
            </a:r>
            <a:r>
              <a:rPr lang="en" sz="1000">
                <a:solidFill>
                  <a:srgbClr val="6897BB"/>
                </a:solidFill>
                <a:highlight>
                  <a:srgbClr val="2B2B2B"/>
                </a:highlight>
                <a:latin typeface="Courier New"/>
                <a:ea typeface="Courier New"/>
                <a:cs typeface="Courier New"/>
                <a:sym typeface="Courier New"/>
              </a:rPr>
              <a:t>0</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i &lt; len</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++i) {</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s += data[i]</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return </a:t>
            </a:r>
            <a:r>
              <a:rPr lang="en" sz="1000">
                <a:solidFill>
                  <a:srgbClr val="A9B7C6"/>
                </a:solidFill>
                <a:highlight>
                  <a:srgbClr val="2B2B2B"/>
                </a:highlight>
                <a:latin typeface="Courier New"/>
                <a:ea typeface="Courier New"/>
                <a:cs typeface="Courier New"/>
                <a:sym typeface="Courier New"/>
              </a:rPr>
              <a:t>s</a:t>
            </a:r>
            <a:r>
              <a:rPr lang="en" sz="1000">
                <a:solidFill>
                  <a:srgbClr val="CC7832"/>
                </a:solidFill>
                <a:highlight>
                  <a:srgbClr val="2B2B2B"/>
                </a:highlight>
                <a:latin typeface="Courier New"/>
                <a:ea typeface="Courier New"/>
                <a:cs typeface="Courier New"/>
                <a:sym typeface="Courier New"/>
              </a:rPr>
              <a:t>;</a:t>
            </a:r>
            <a:endParaRPr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p:txBody>
      </p:sp>
      <p:cxnSp>
        <p:nvCxnSpPr>
          <p:cNvPr id="193" name="Google Shape;193;p33"/>
          <p:cNvCxnSpPr>
            <a:stCxn id="192" idx="3"/>
            <a:endCxn id="194" idx="1"/>
          </p:cNvCxnSpPr>
          <p:nvPr/>
        </p:nvCxnSpPr>
        <p:spPr>
          <a:xfrm>
            <a:off x="3123150" y="2692250"/>
            <a:ext cx="1116600" cy="0"/>
          </a:xfrm>
          <a:prstGeom prst="straightConnector1">
            <a:avLst/>
          </a:prstGeom>
          <a:noFill/>
          <a:ln cap="flat" cmpd="sng" w="28575">
            <a:solidFill>
              <a:schemeClr val="dk2"/>
            </a:solidFill>
            <a:prstDash val="solid"/>
            <a:round/>
            <a:headEnd len="med" w="med" type="none"/>
            <a:tailEnd len="med" w="med" type="triangle"/>
          </a:ln>
        </p:spPr>
      </p:cxnSp>
      <p:pic>
        <p:nvPicPr>
          <p:cNvPr id="195" name="Google Shape;195;p33"/>
          <p:cNvPicPr preferRelativeResize="0"/>
          <p:nvPr/>
        </p:nvPicPr>
        <p:blipFill>
          <a:blip r:embed="rId3">
            <a:alphaModFix/>
          </a:blip>
          <a:stretch>
            <a:fillRect/>
          </a:stretch>
        </p:blipFill>
        <p:spPr>
          <a:xfrm>
            <a:off x="3186673" y="1772525"/>
            <a:ext cx="989475" cy="799225"/>
          </a:xfrm>
          <a:prstGeom prst="rect">
            <a:avLst/>
          </a:prstGeom>
          <a:noFill/>
          <a:ln>
            <a:noFill/>
          </a:ln>
        </p:spPr>
      </p:pic>
      <p:sp>
        <p:nvSpPr>
          <p:cNvPr id="194" name="Google Shape;194;p33"/>
          <p:cNvSpPr txBox="1"/>
          <p:nvPr/>
        </p:nvSpPr>
        <p:spPr>
          <a:xfrm>
            <a:off x="4239675" y="1006850"/>
            <a:ext cx="4828800" cy="33708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define dso_local i32 @sum(ptr noundef %0, i32 noundef %1) #0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3:                                                ; preds = %10, %2</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%.01 = phi i32 [ 0, %2 ], [ %9, %10 ]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%.0 = phi i32 [ 0, %2 ], [ %11, %10 ]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%4 = icmp slt i32 %.0, %1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i1 %4, label %5, label %12</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5:                                                ; preds =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%6 = sext i32 %.0 to i64</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%7 = getelementptr inbounds i32, ptr %0, i64 %6</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%8 = load i32, ptr %7, align 4</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%9 = add nsw i32 %.01, %8</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%10</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10:                                               ; preds = %5</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%11 = add nsw i32 %.0, 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%3, !llvm.loop !6</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12:                                               ; preds =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ret i32 %.01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a:t>
            </a:r>
            <a:endParaRPr sz="9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Example Compilation</a:t>
            </a:r>
            <a:endParaRPr/>
          </a:p>
        </p:txBody>
      </p:sp>
      <p:sp>
        <p:nvSpPr>
          <p:cNvPr id="201" name="Google Shape;201;p34"/>
          <p:cNvSpPr txBox="1"/>
          <p:nvPr/>
        </p:nvSpPr>
        <p:spPr>
          <a:xfrm>
            <a:off x="4239675" y="1006850"/>
            <a:ext cx="4828800" cy="33708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define dso_local i32 @sum(ptr noundef %0, i32 noundef %1) #0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3:                                                ; preds = %10, %2</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%.01 = phi i32 [ 0, %2 ], [ %9, %10 ]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%.0 = phi i32 [ 0, %2 ], [ %11, %10 ]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%4 = icmp slt i32 %.0, %1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i1 %4, label %5, label %12</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5:                                                ; preds =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%6 = sext i32 %.0 to i64</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%7 = getelementptr inbounds i32, ptr %0, i64 %6</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%8 = load i32, ptr %7, align 4</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%9 = add nsw i32 %.01, %8</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%10</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10:                                               ; preds = %5</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%11 = add nsw i32 %.0, 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br label %3, !llvm.loop !6</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12:                                               ; preds = %3</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 ret i32 %.01</a:t>
            </a:r>
            <a:endParaRPr sz="9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900">
                <a:solidFill>
                  <a:srgbClr val="A9B7C6"/>
                </a:solidFill>
                <a:highlight>
                  <a:srgbClr val="2B2B2B"/>
                </a:highlight>
                <a:latin typeface="Courier New"/>
                <a:ea typeface="Courier New"/>
                <a:cs typeface="Courier New"/>
                <a:sym typeface="Courier New"/>
              </a:rPr>
              <a:t>}</a:t>
            </a:r>
            <a:endParaRPr sz="900">
              <a:solidFill>
                <a:srgbClr val="A9B7C6"/>
              </a:solidFill>
              <a:highlight>
                <a:srgbClr val="2B2B2B"/>
              </a:highlight>
              <a:latin typeface="Courier New"/>
              <a:ea typeface="Courier New"/>
              <a:cs typeface="Courier New"/>
              <a:sym typeface="Courier New"/>
            </a:endParaRPr>
          </a:p>
        </p:txBody>
      </p:sp>
      <p:sp>
        <p:nvSpPr>
          <p:cNvPr id="202" name="Google Shape;202;p34"/>
          <p:cNvSpPr txBox="1"/>
          <p:nvPr/>
        </p:nvSpPr>
        <p:spPr>
          <a:xfrm>
            <a:off x="304800" y="909200"/>
            <a:ext cx="3730500" cy="35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500">
                <a:solidFill>
                  <a:srgbClr val="D6001C"/>
                </a:solidFill>
              </a:rPr>
              <a:t>Block:</a:t>
            </a:r>
            <a:endParaRPr b="1" i="1" sz="1500">
              <a:solidFill>
                <a:srgbClr val="D6001C"/>
              </a:solidFill>
            </a:endParaRPr>
          </a:p>
          <a:p>
            <a:pPr indent="-323850" lvl="0" marL="457200" rtl="0" algn="l">
              <a:spcBef>
                <a:spcPts val="0"/>
              </a:spcBef>
              <a:spcAft>
                <a:spcPts val="0"/>
              </a:spcAft>
              <a:buSzPts val="1500"/>
              <a:buChar char="●"/>
            </a:pPr>
            <a:r>
              <a:rPr lang="en" sz="1500"/>
              <a:t>Container for sequential instructions</a:t>
            </a:r>
            <a:endParaRPr sz="1500"/>
          </a:p>
          <a:p>
            <a:pPr indent="-323850" lvl="0" marL="457200" rtl="0" algn="l">
              <a:spcBef>
                <a:spcPts val="0"/>
              </a:spcBef>
              <a:spcAft>
                <a:spcPts val="0"/>
              </a:spcAft>
              <a:buSzPts val="1500"/>
              <a:buChar char="●"/>
            </a:pPr>
            <a:r>
              <a:rPr lang="en" sz="1500"/>
              <a:t>Denoted by block labels </a:t>
            </a:r>
            <a:r>
              <a:rPr i="1" lang="en" sz="1500"/>
              <a:t>{label}:</a:t>
            </a:r>
            <a:endParaRPr i="1" sz="1500"/>
          </a:p>
          <a:p>
            <a:pPr indent="0" lvl="0" marL="0" rtl="0" algn="l">
              <a:spcBef>
                <a:spcPts val="0"/>
              </a:spcBef>
              <a:spcAft>
                <a:spcPts val="0"/>
              </a:spcAft>
              <a:buNone/>
            </a:pPr>
            <a:r>
              <a:rPr b="1" i="1" lang="en" sz="1500">
                <a:solidFill>
                  <a:srgbClr val="CC7832"/>
                </a:solidFill>
              </a:rPr>
              <a:t>Virtual Register:</a:t>
            </a:r>
            <a:endParaRPr b="1" i="1" sz="1500">
              <a:solidFill>
                <a:srgbClr val="CC7832"/>
              </a:solidFill>
            </a:endParaRPr>
          </a:p>
          <a:p>
            <a:pPr indent="-323850" lvl="0" marL="457200" rtl="0" algn="l">
              <a:spcBef>
                <a:spcPts val="0"/>
              </a:spcBef>
              <a:spcAft>
                <a:spcPts val="0"/>
              </a:spcAft>
              <a:buSzPts val="1500"/>
              <a:buChar char="●"/>
            </a:pPr>
            <a:r>
              <a:rPr lang="en" sz="1500"/>
              <a:t>Divides work via an abstracted </a:t>
            </a:r>
            <a:r>
              <a:rPr b="1" lang="en" sz="1500"/>
              <a:t>infinite set of registers</a:t>
            </a:r>
            <a:endParaRPr b="1" sz="1500"/>
          </a:p>
          <a:p>
            <a:pPr indent="-323850" lvl="0" marL="457200" rtl="0" algn="l">
              <a:spcBef>
                <a:spcPts val="0"/>
              </a:spcBef>
              <a:spcAft>
                <a:spcPts val="0"/>
              </a:spcAft>
              <a:buSzPts val="1500"/>
              <a:buChar char="●"/>
            </a:pPr>
            <a:r>
              <a:rPr lang="en" sz="1500"/>
              <a:t>Only assigned once</a:t>
            </a:r>
            <a:endParaRPr sz="1500"/>
          </a:p>
          <a:p>
            <a:pPr indent="0" lvl="0" marL="0" rtl="0" algn="l">
              <a:spcBef>
                <a:spcPts val="0"/>
              </a:spcBef>
              <a:spcAft>
                <a:spcPts val="0"/>
              </a:spcAft>
              <a:buNone/>
            </a:pPr>
            <a:r>
              <a:rPr b="1" i="1" lang="en" sz="1500">
                <a:solidFill>
                  <a:schemeClr val="accent4"/>
                </a:solidFill>
              </a:rPr>
              <a:t>Branches:</a:t>
            </a:r>
            <a:endParaRPr b="1" i="1" sz="1500">
              <a:solidFill>
                <a:schemeClr val="accent4"/>
              </a:solidFill>
            </a:endParaRPr>
          </a:p>
          <a:p>
            <a:pPr indent="-323850" lvl="0" marL="457200" rtl="0" algn="l">
              <a:spcBef>
                <a:spcPts val="0"/>
              </a:spcBef>
              <a:spcAft>
                <a:spcPts val="0"/>
              </a:spcAft>
              <a:buSzPts val="1500"/>
              <a:buChar char="●"/>
            </a:pPr>
            <a:r>
              <a:rPr lang="en" sz="1500"/>
              <a:t>PC jumps to a new address </a:t>
            </a:r>
            <a:r>
              <a:rPr i="1" lang="en" sz="1500"/>
              <a:t>conditionally </a:t>
            </a:r>
            <a:r>
              <a:rPr lang="en" sz="1500"/>
              <a:t>or </a:t>
            </a:r>
            <a:r>
              <a:rPr i="1" lang="en" sz="1500"/>
              <a:t>unconditionally </a:t>
            </a:r>
            <a:r>
              <a:rPr b="1" lang="en" sz="1500"/>
              <a:t>(</a:t>
            </a:r>
            <a:r>
              <a:rPr b="1" lang="en" sz="1500"/>
              <a:t>Non Sequential</a:t>
            </a:r>
            <a:r>
              <a:rPr b="1" lang="en" sz="1500"/>
              <a:t> divisions)</a:t>
            </a:r>
            <a:endParaRPr b="1" sz="1500"/>
          </a:p>
          <a:p>
            <a:pPr indent="0" lvl="0" marL="0" rtl="0" algn="l">
              <a:spcBef>
                <a:spcPts val="0"/>
              </a:spcBef>
              <a:spcAft>
                <a:spcPts val="0"/>
              </a:spcAft>
              <a:buNone/>
            </a:pPr>
            <a:r>
              <a:rPr b="1" i="1" lang="en" sz="1500">
                <a:solidFill>
                  <a:srgbClr val="38761D"/>
                </a:solidFill>
              </a:rPr>
              <a:t>Phi Nodes:</a:t>
            </a:r>
            <a:endParaRPr b="1" i="1" sz="1500">
              <a:solidFill>
                <a:srgbClr val="38761D"/>
              </a:solidFill>
            </a:endParaRPr>
          </a:p>
          <a:p>
            <a:pPr indent="-317500" lvl="0" marL="457200" rtl="0" algn="l">
              <a:spcBef>
                <a:spcPts val="0"/>
              </a:spcBef>
              <a:spcAft>
                <a:spcPts val="0"/>
              </a:spcAft>
              <a:buClr>
                <a:schemeClr val="dk1"/>
              </a:buClr>
              <a:buSzPts val="1400"/>
              <a:buChar char="●"/>
            </a:pPr>
            <a:r>
              <a:rPr lang="en" sz="1500">
                <a:solidFill>
                  <a:schemeClr val="dk1"/>
                </a:solidFill>
              </a:rPr>
              <a:t>Loops, conditionals </a:t>
            </a:r>
            <a:r>
              <a:rPr b="1" lang="en" sz="1500">
                <a:solidFill>
                  <a:schemeClr val="dk1"/>
                </a:solidFill>
              </a:rPr>
              <a:t>depending </a:t>
            </a:r>
            <a:r>
              <a:rPr lang="en" sz="1500">
                <a:solidFill>
                  <a:schemeClr val="dk1"/>
                </a:solidFill>
              </a:rPr>
              <a:t>on the previous block , etc.</a:t>
            </a:r>
            <a:r>
              <a:rPr lang="en">
                <a:solidFill>
                  <a:schemeClr val="dk1"/>
                </a:solidFill>
              </a:rPr>
              <a:t> </a:t>
            </a:r>
            <a:endParaRPr>
              <a:solidFill>
                <a:schemeClr val="dk1"/>
              </a:solidFill>
            </a:endParaRPr>
          </a:p>
        </p:txBody>
      </p:sp>
      <p:sp>
        <p:nvSpPr>
          <p:cNvPr id="203" name="Google Shape;203;p34"/>
          <p:cNvSpPr/>
          <p:nvPr/>
        </p:nvSpPr>
        <p:spPr>
          <a:xfrm>
            <a:off x="4299300" y="2322225"/>
            <a:ext cx="231300" cy="164400"/>
          </a:xfrm>
          <a:prstGeom prst="rect">
            <a:avLst/>
          </a:prstGeom>
          <a:noFill/>
          <a:ln cap="flat" cmpd="sng" w="28575">
            <a:solidFill>
              <a:srgbClr val="D600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6001C"/>
              </a:solidFill>
              <a:highlight>
                <a:srgbClr val="D6001C"/>
              </a:highlight>
            </a:endParaRPr>
          </a:p>
        </p:txBody>
      </p:sp>
      <p:sp>
        <p:nvSpPr>
          <p:cNvPr id="204" name="Google Shape;204;p34"/>
          <p:cNvSpPr/>
          <p:nvPr/>
        </p:nvSpPr>
        <p:spPr>
          <a:xfrm>
            <a:off x="5539500" y="2891300"/>
            <a:ext cx="316500" cy="135300"/>
          </a:xfrm>
          <a:prstGeom prst="rect">
            <a:avLst/>
          </a:prstGeom>
          <a:noFill/>
          <a:ln cap="flat" cmpd="sng" w="28575">
            <a:solidFill>
              <a:srgbClr val="CC78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6001C"/>
              </a:solidFill>
              <a:highlight>
                <a:srgbClr val="D6001C"/>
              </a:highlight>
            </a:endParaRPr>
          </a:p>
        </p:txBody>
      </p:sp>
      <p:sp>
        <p:nvSpPr>
          <p:cNvPr id="205" name="Google Shape;205;p34"/>
          <p:cNvSpPr/>
          <p:nvPr/>
        </p:nvSpPr>
        <p:spPr>
          <a:xfrm>
            <a:off x="4372825" y="2057250"/>
            <a:ext cx="2058000" cy="1353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6001C"/>
              </a:solidFill>
              <a:highlight>
                <a:srgbClr val="D6001C"/>
              </a:highlight>
            </a:endParaRPr>
          </a:p>
        </p:txBody>
      </p:sp>
      <p:sp>
        <p:nvSpPr>
          <p:cNvPr id="206" name="Google Shape;206;p34"/>
          <p:cNvSpPr/>
          <p:nvPr/>
        </p:nvSpPr>
        <p:spPr>
          <a:xfrm>
            <a:off x="4863375" y="1649450"/>
            <a:ext cx="2086500" cy="1488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6001C"/>
              </a:solidFill>
              <a:highlight>
                <a:srgbClr val="D6001C"/>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Per-block Liveness</a:t>
            </a:r>
            <a:endParaRPr/>
          </a:p>
        </p:txBody>
      </p:sp>
      <p:pic>
        <p:nvPicPr>
          <p:cNvPr id="212" name="Google Shape;212;p35"/>
          <p:cNvPicPr preferRelativeResize="0"/>
          <p:nvPr/>
        </p:nvPicPr>
        <p:blipFill>
          <a:blip r:embed="rId3">
            <a:alphaModFix/>
          </a:blip>
          <a:stretch>
            <a:fillRect/>
          </a:stretch>
        </p:blipFill>
        <p:spPr>
          <a:xfrm>
            <a:off x="4571999" y="1636799"/>
            <a:ext cx="4477925" cy="2135400"/>
          </a:xfrm>
          <a:prstGeom prst="rect">
            <a:avLst/>
          </a:prstGeom>
          <a:noFill/>
          <a:ln>
            <a:noFill/>
          </a:ln>
        </p:spPr>
      </p:pic>
      <p:sp>
        <p:nvSpPr>
          <p:cNvPr id="213" name="Google Shape;213;p35"/>
          <p:cNvSpPr txBox="1"/>
          <p:nvPr/>
        </p:nvSpPr>
        <p:spPr>
          <a:xfrm>
            <a:off x="34500" y="919050"/>
            <a:ext cx="45375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N : Set of nodes of CFG;</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for each n ∈ N do</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in[n] ← φ;</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out[n] ← φ;</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end</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repeat</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for each n ∈ Nodes do</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 First save the current value for IN and OUT for comparison later.</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in'[n] ← in[n];</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out'[n] ← out[n];        </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 For OUT, find out the union of previous variables </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in the IN set for each succeeding node of n.</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out[n] ← ∪s∈succ[n]in[s] ; // Compute OUT for a node.</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in[n] ← use[n]∪(out[n]−def [n]); // Compute IN for a node.</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end</a:t>
            </a:r>
            <a:endParaRPr sz="10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E0E0E0"/>
                </a:highlight>
                <a:latin typeface="Courier New"/>
                <a:ea typeface="Courier New"/>
                <a:cs typeface="Courier New"/>
                <a:sym typeface="Courier New"/>
              </a:rPr>
              <a:t>// Iterate, until IN and OUT set are constants for last two consecutive iterations.</a:t>
            </a:r>
            <a:endParaRPr sz="10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0"/>
              </a:spcBef>
              <a:spcAft>
                <a:spcPts val="800"/>
              </a:spcAft>
              <a:buNone/>
            </a:pPr>
            <a:r>
              <a:rPr lang="en" sz="1000">
                <a:solidFill>
                  <a:schemeClr val="dk1"/>
                </a:solidFill>
                <a:highlight>
                  <a:srgbClr val="E0E0E0"/>
                </a:highlight>
                <a:latin typeface="Courier New"/>
                <a:ea typeface="Courier New"/>
                <a:cs typeface="Courier New"/>
                <a:sym typeface="Courier New"/>
              </a:rPr>
              <a:t>until ∀n,in'[n] = in[n] ∧ out' [n] = out[n];</a:t>
            </a:r>
            <a:endParaRPr sz="1000">
              <a:solidFill>
                <a:schemeClr val="dk1"/>
              </a:solidFill>
              <a:highlight>
                <a:srgbClr val="E0E0E0"/>
              </a:highlight>
              <a:latin typeface="Courier New"/>
              <a:ea typeface="Courier New"/>
              <a:cs typeface="Courier New"/>
              <a:sym typeface="Courier New"/>
            </a:endParaRPr>
          </a:p>
        </p:txBody>
      </p:sp>
      <p:sp>
        <p:nvSpPr>
          <p:cNvPr id="214" name="Google Shape;214;p35"/>
          <p:cNvSpPr/>
          <p:nvPr/>
        </p:nvSpPr>
        <p:spPr>
          <a:xfrm>
            <a:off x="4605000" y="1732500"/>
            <a:ext cx="832500" cy="234300"/>
          </a:xfrm>
          <a:prstGeom prst="rect">
            <a:avLst/>
          </a:prstGeom>
          <a:noFill/>
          <a:ln cap="flat" cmpd="sng" w="38100">
            <a:solidFill>
              <a:srgbClr val="D600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5" name="Google Shape;215;p35"/>
          <p:cNvCxnSpPr>
            <a:stCxn id="214" idx="0"/>
          </p:cNvCxnSpPr>
          <p:nvPr/>
        </p:nvCxnSpPr>
        <p:spPr>
          <a:xfrm flipH="1" rot="5400000">
            <a:off x="3035550" y="-253200"/>
            <a:ext cx="330000" cy="3641400"/>
          </a:xfrm>
          <a:prstGeom prst="bentConnector2">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idx="1" type="body"/>
          </p:nvPr>
        </p:nvSpPr>
        <p:spPr>
          <a:xfrm>
            <a:off x="224416" y="778091"/>
            <a:ext cx="6258000" cy="13716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No deep learning model yet</a:t>
            </a:r>
            <a:endParaRPr sz="2000"/>
          </a:p>
          <a:p>
            <a:pPr indent="-355600" lvl="0" marL="457200" rtl="0" algn="l">
              <a:spcBef>
                <a:spcPts val="0"/>
              </a:spcBef>
              <a:spcAft>
                <a:spcPts val="0"/>
              </a:spcAft>
              <a:buSzPts val="2000"/>
              <a:buChar char="•"/>
            </a:pPr>
            <a:r>
              <a:rPr lang="en" sz="2000"/>
              <a:t>Can still color the interference graphs</a:t>
            </a:r>
            <a:endParaRPr sz="2000"/>
          </a:p>
          <a:p>
            <a:pPr indent="-355600" lvl="0" marL="457200" rtl="0" algn="l">
              <a:spcBef>
                <a:spcPts val="0"/>
              </a:spcBef>
              <a:spcAft>
                <a:spcPts val="0"/>
              </a:spcAft>
              <a:buSzPts val="2000"/>
              <a:buChar char="•"/>
            </a:pPr>
            <a:r>
              <a:rPr lang="en" sz="2000"/>
              <a:t>Use as a dataset for training in the future</a:t>
            </a:r>
            <a:endParaRPr sz="2000"/>
          </a:p>
        </p:txBody>
      </p:sp>
      <p:sp>
        <p:nvSpPr>
          <p:cNvPr id="221" name="Google Shape;221;p36"/>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Coloring the Graph</a:t>
            </a:r>
            <a:endParaRPr/>
          </a:p>
        </p:txBody>
      </p:sp>
      <p:pic>
        <p:nvPicPr>
          <p:cNvPr id="222" name="Google Shape;222;p36"/>
          <p:cNvPicPr preferRelativeResize="0"/>
          <p:nvPr/>
        </p:nvPicPr>
        <p:blipFill>
          <a:blip r:embed="rId3">
            <a:alphaModFix/>
          </a:blip>
          <a:stretch>
            <a:fillRect/>
          </a:stretch>
        </p:blipFill>
        <p:spPr>
          <a:xfrm>
            <a:off x="1238250" y="2330991"/>
            <a:ext cx="6667500" cy="1905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idx="1" type="body"/>
          </p:nvPr>
        </p:nvSpPr>
        <p:spPr>
          <a:xfrm>
            <a:off x="224428" y="778100"/>
            <a:ext cx="8096100" cy="13716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Colors are independent sets of vertices</a:t>
            </a:r>
            <a:endParaRPr sz="2000"/>
          </a:p>
          <a:p>
            <a:pPr indent="-355600" lvl="0" marL="457200" rtl="0" algn="l">
              <a:spcBef>
                <a:spcPts val="0"/>
              </a:spcBef>
              <a:spcAft>
                <a:spcPts val="0"/>
              </a:spcAft>
              <a:buSzPts val="2000"/>
              <a:buChar char="•"/>
            </a:pPr>
            <a:r>
              <a:rPr lang="en" sz="2000"/>
              <a:t>Independent sets on an IG can be claimed by a single register</a:t>
            </a:r>
            <a:endParaRPr sz="2000"/>
          </a:p>
        </p:txBody>
      </p:sp>
      <p:sp>
        <p:nvSpPr>
          <p:cNvPr id="228" name="Google Shape;228;p37"/>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Colored Graph -&gt; Register Allocation</a:t>
            </a:r>
            <a:endParaRPr/>
          </a:p>
        </p:txBody>
      </p:sp>
      <p:pic>
        <p:nvPicPr>
          <p:cNvPr id="229" name="Google Shape;229;p37"/>
          <p:cNvPicPr preferRelativeResize="0"/>
          <p:nvPr/>
        </p:nvPicPr>
        <p:blipFill>
          <a:blip r:embed="rId3">
            <a:alphaModFix/>
          </a:blip>
          <a:stretch>
            <a:fillRect/>
          </a:stretch>
        </p:blipFill>
        <p:spPr>
          <a:xfrm>
            <a:off x="903475" y="2043350"/>
            <a:ext cx="7337050" cy="221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idx="1" type="body"/>
          </p:nvPr>
        </p:nvSpPr>
        <p:spPr>
          <a:xfrm>
            <a:off x="224425" y="778100"/>
            <a:ext cx="3956100" cy="13716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Each function contains an independent set of virtual registers</a:t>
            </a:r>
            <a:endParaRPr sz="2000"/>
          </a:p>
          <a:p>
            <a:pPr indent="-355600" lvl="0" marL="457200" rtl="0" algn="l">
              <a:spcBef>
                <a:spcPts val="0"/>
              </a:spcBef>
              <a:spcAft>
                <a:spcPts val="0"/>
              </a:spcAft>
              <a:buSzPts val="2000"/>
              <a:buChar char="•"/>
            </a:pPr>
            <a:r>
              <a:rPr lang="en" sz="2000"/>
              <a:t>Registers local to functions at equal scope level cannot interfere with one another</a:t>
            </a:r>
            <a:endParaRPr sz="2000"/>
          </a:p>
        </p:txBody>
      </p:sp>
      <p:sp>
        <p:nvSpPr>
          <p:cNvPr id="235" name="Google Shape;235;p38"/>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Multiple Functions</a:t>
            </a:r>
            <a:endParaRPr/>
          </a:p>
        </p:txBody>
      </p:sp>
      <p:pic>
        <p:nvPicPr>
          <p:cNvPr id="236" name="Google Shape;236;p38"/>
          <p:cNvPicPr preferRelativeResize="0"/>
          <p:nvPr/>
        </p:nvPicPr>
        <p:blipFill>
          <a:blip r:embed="rId3">
            <a:alphaModFix/>
          </a:blip>
          <a:stretch>
            <a:fillRect/>
          </a:stretch>
        </p:blipFill>
        <p:spPr>
          <a:xfrm>
            <a:off x="5131250" y="778100"/>
            <a:ext cx="3232655" cy="2689000"/>
          </a:xfrm>
          <a:prstGeom prst="rect">
            <a:avLst/>
          </a:prstGeom>
          <a:noFill/>
          <a:ln>
            <a:noFill/>
          </a:ln>
        </p:spPr>
      </p:pic>
      <p:sp>
        <p:nvSpPr>
          <p:cNvPr id="237" name="Google Shape;237;p38"/>
          <p:cNvSpPr txBox="1"/>
          <p:nvPr/>
        </p:nvSpPr>
        <p:spPr>
          <a:xfrm>
            <a:off x="1593250" y="3689850"/>
            <a:ext cx="7276200" cy="784200"/>
          </a:xfrm>
          <a:prstGeom prst="rect">
            <a:avLst/>
          </a:prstGeom>
          <a:noFill/>
          <a:ln>
            <a:noFill/>
          </a:ln>
        </p:spPr>
        <p:txBody>
          <a:bodyPr anchorCtr="0" anchor="t" bIns="91425" lIns="91425" spcFirstLastPara="1" rIns="91425" wrap="square" tIns="91425">
            <a:noAutofit/>
          </a:bodyPr>
          <a:lstStyle/>
          <a:p>
            <a:pPr indent="-355600" lvl="0" marL="457200" rtl="0" algn="l">
              <a:spcBef>
                <a:spcPts val="640"/>
              </a:spcBef>
              <a:spcAft>
                <a:spcPts val="0"/>
              </a:spcAft>
              <a:buClr>
                <a:schemeClr val="dk1"/>
              </a:buClr>
              <a:buSzPts val="2000"/>
              <a:buChar char="•"/>
            </a:pPr>
            <a:r>
              <a:rPr lang="en" sz="2000">
                <a:solidFill>
                  <a:schemeClr val="dk1"/>
                </a:solidFill>
              </a:rPr>
              <a:t>Interference Graph of multiple functions = </a:t>
            </a:r>
            <a:endParaRPr sz="2000">
              <a:solidFill>
                <a:schemeClr val="dk1"/>
              </a:solidFill>
            </a:endParaRPr>
          </a:p>
          <a:p>
            <a:pPr indent="0" lvl="0" marL="0" rtl="0" algn="l">
              <a:spcBef>
                <a:spcPts val="640"/>
              </a:spcBef>
              <a:spcAft>
                <a:spcPts val="0"/>
              </a:spcAft>
              <a:buClr>
                <a:schemeClr val="dk1"/>
              </a:buClr>
              <a:buSzPts val="1100"/>
              <a:buFont typeface="Arial"/>
              <a:buNone/>
            </a:pPr>
            <a:r>
              <a:rPr lang="en" sz="2000">
                <a:solidFill>
                  <a:schemeClr val="dk1"/>
                </a:solidFill>
              </a:rPr>
              <a:t>	U(Interference Graph of function k)</a:t>
            </a:r>
            <a:endParaRPr sz="2000">
              <a:solidFill>
                <a:schemeClr val="dk1"/>
              </a:solidFill>
            </a:endParaRPr>
          </a:p>
          <a:p>
            <a:pPr indent="0" lvl="0" marL="0" rtl="0" algn="l">
              <a:spcBef>
                <a:spcPts val="0"/>
              </a:spcBef>
              <a:spcAft>
                <a:spcPts val="0"/>
              </a:spcAft>
              <a:buNone/>
            </a:pPr>
            <a:r>
              <a:t/>
            </a:r>
            <a:endParaRPr/>
          </a:p>
        </p:txBody>
      </p:sp>
      <p:sp>
        <p:nvSpPr>
          <p:cNvPr id="238" name="Google Shape;238;p38"/>
          <p:cNvSpPr/>
          <p:nvPr/>
        </p:nvSpPr>
        <p:spPr>
          <a:xfrm rot="4004030">
            <a:off x="6729337" y="1119051"/>
            <a:ext cx="1235686" cy="909521"/>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38"/>
          <p:cNvSpPr/>
          <p:nvPr/>
        </p:nvSpPr>
        <p:spPr>
          <a:xfrm>
            <a:off x="6426875" y="2326825"/>
            <a:ext cx="1235700" cy="909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8"/>
          <p:cNvSpPr/>
          <p:nvPr/>
        </p:nvSpPr>
        <p:spPr>
          <a:xfrm rot="1658021">
            <a:off x="5558840" y="1178463"/>
            <a:ext cx="884832" cy="2019924"/>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idx="1" type="body"/>
          </p:nvPr>
        </p:nvSpPr>
        <p:spPr>
          <a:xfrm>
            <a:off x="224425" y="778125"/>
            <a:ext cx="4567800" cy="37020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Function calls make things tricky due to calling conventions, sticking with x86 cdecl</a:t>
            </a:r>
            <a:endParaRPr sz="2000"/>
          </a:p>
          <a:p>
            <a:pPr indent="-330200" lvl="1" marL="914400" rtl="0" algn="l">
              <a:spcBef>
                <a:spcPts val="0"/>
              </a:spcBef>
              <a:spcAft>
                <a:spcPts val="0"/>
              </a:spcAft>
              <a:buSzPts val="1600"/>
              <a:buChar char="▪"/>
            </a:pPr>
            <a:r>
              <a:rPr lang="en" sz="1600"/>
              <a:t>EAX, ECX, EDX saved on caller’s stackframe</a:t>
            </a:r>
            <a:endParaRPr sz="1600"/>
          </a:p>
          <a:p>
            <a:pPr indent="-330200" lvl="1" marL="914400" rtl="0" algn="l">
              <a:spcBef>
                <a:spcPts val="0"/>
              </a:spcBef>
              <a:spcAft>
                <a:spcPts val="0"/>
              </a:spcAft>
              <a:buSzPts val="1600"/>
              <a:buChar char="▪"/>
            </a:pPr>
            <a:r>
              <a:rPr lang="en" sz="1600"/>
              <a:t>Rest need to be saved by callee if needed</a:t>
            </a:r>
            <a:endParaRPr sz="1600"/>
          </a:p>
          <a:p>
            <a:pPr indent="-355600" lvl="0" marL="457200" rtl="0" algn="l">
              <a:spcBef>
                <a:spcPts val="0"/>
              </a:spcBef>
              <a:spcAft>
                <a:spcPts val="0"/>
              </a:spcAft>
              <a:buSzPts val="2000"/>
              <a:buChar char="•"/>
            </a:pPr>
            <a:r>
              <a:rPr lang="en" sz="2000"/>
              <a:t>Simplest solution: All variables live across function call interfere with every single variable within the function</a:t>
            </a:r>
            <a:endParaRPr sz="2000"/>
          </a:p>
          <a:p>
            <a:pPr indent="-330200" lvl="1" marL="914400" rtl="0" algn="l">
              <a:spcBef>
                <a:spcPts val="0"/>
              </a:spcBef>
              <a:spcAft>
                <a:spcPts val="0"/>
              </a:spcAft>
              <a:buSzPts val="1600"/>
              <a:buChar char="▪"/>
            </a:pPr>
            <a:r>
              <a:rPr lang="en" sz="1600"/>
              <a:t>Supernodes of the function’s subgraph</a:t>
            </a:r>
            <a:endParaRPr sz="1600"/>
          </a:p>
        </p:txBody>
      </p:sp>
      <p:sp>
        <p:nvSpPr>
          <p:cNvPr id="246" name="Google Shape;246;p39"/>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Function Calls</a:t>
            </a:r>
            <a:endParaRPr/>
          </a:p>
        </p:txBody>
      </p:sp>
      <p:pic>
        <p:nvPicPr>
          <p:cNvPr id="247" name="Google Shape;247;p39"/>
          <p:cNvPicPr preferRelativeResize="0"/>
          <p:nvPr/>
        </p:nvPicPr>
        <p:blipFill>
          <a:blip r:embed="rId3">
            <a:alphaModFix/>
          </a:blip>
          <a:stretch>
            <a:fillRect/>
          </a:stretch>
        </p:blipFill>
        <p:spPr>
          <a:xfrm>
            <a:off x="5665975" y="670802"/>
            <a:ext cx="2176300" cy="1762450"/>
          </a:xfrm>
          <a:prstGeom prst="rect">
            <a:avLst/>
          </a:prstGeom>
          <a:noFill/>
          <a:ln>
            <a:noFill/>
          </a:ln>
        </p:spPr>
      </p:pic>
      <p:pic>
        <p:nvPicPr>
          <p:cNvPr id="248" name="Google Shape;248;p39"/>
          <p:cNvPicPr preferRelativeResize="0"/>
          <p:nvPr/>
        </p:nvPicPr>
        <p:blipFill>
          <a:blip r:embed="rId4">
            <a:alphaModFix/>
          </a:blip>
          <a:stretch>
            <a:fillRect/>
          </a:stretch>
        </p:blipFill>
        <p:spPr>
          <a:xfrm>
            <a:off x="5112888" y="2571752"/>
            <a:ext cx="3282474" cy="199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Function Calls - Cont.</a:t>
            </a:r>
            <a:endParaRPr/>
          </a:p>
        </p:txBody>
      </p:sp>
      <p:pic>
        <p:nvPicPr>
          <p:cNvPr id="254" name="Google Shape;254;p40"/>
          <p:cNvPicPr preferRelativeResize="0"/>
          <p:nvPr/>
        </p:nvPicPr>
        <p:blipFill>
          <a:blip r:embed="rId3">
            <a:alphaModFix/>
          </a:blip>
          <a:stretch>
            <a:fillRect/>
          </a:stretch>
        </p:blipFill>
        <p:spPr>
          <a:xfrm>
            <a:off x="5665975" y="670802"/>
            <a:ext cx="2176300" cy="1762450"/>
          </a:xfrm>
          <a:prstGeom prst="rect">
            <a:avLst/>
          </a:prstGeom>
          <a:noFill/>
          <a:ln>
            <a:noFill/>
          </a:ln>
        </p:spPr>
      </p:pic>
      <p:pic>
        <p:nvPicPr>
          <p:cNvPr id="255" name="Google Shape;255;p40"/>
          <p:cNvPicPr preferRelativeResize="0"/>
          <p:nvPr/>
        </p:nvPicPr>
        <p:blipFill>
          <a:blip r:embed="rId4">
            <a:alphaModFix/>
          </a:blip>
          <a:stretch>
            <a:fillRect/>
          </a:stretch>
        </p:blipFill>
        <p:spPr>
          <a:xfrm>
            <a:off x="5112888" y="2571752"/>
            <a:ext cx="3282474" cy="1991450"/>
          </a:xfrm>
          <a:prstGeom prst="rect">
            <a:avLst/>
          </a:prstGeom>
          <a:noFill/>
          <a:ln>
            <a:noFill/>
          </a:ln>
        </p:spPr>
      </p:pic>
      <p:pic>
        <p:nvPicPr>
          <p:cNvPr id="256" name="Google Shape;256;p40"/>
          <p:cNvPicPr preferRelativeResize="0"/>
          <p:nvPr/>
        </p:nvPicPr>
        <p:blipFill>
          <a:blip r:embed="rId5">
            <a:alphaModFix/>
          </a:blip>
          <a:stretch>
            <a:fillRect/>
          </a:stretch>
        </p:blipFill>
        <p:spPr>
          <a:xfrm>
            <a:off x="761823" y="792514"/>
            <a:ext cx="3050751" cy="3558476"/>
          </a:xfrm>
          <a:prstGeom prst="rect">
            <a:avLst/>
          </a:prstGeom>
          <a:noFill/>
          <a:ln>
            <a:noFill/>
          </a:ln>
        </p:spPr>
      </p:pic>
      <p:sp>
        <p:nvSpPr>
          <p:cNvPr id="257" name="Google Shape;257;p40"/>
          <p:cNvSpPr/>
          <p:nvPr/>
        </p:nvSpPr>
        <p:spPr>
          <a:xfrm>
            <a:off x="5231325" y="3021800"/>
            <a:ext cx="266700" cy="18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40"/>
          <p:cNvSpPr/>
          <p:nvPr/>
        </p:nvSpPr>
        <p:spPr>
          <a:xfrm>
            <a:off x="7657525" y="3393750"/>
            <a:ext cx="266700" cy="18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40"/>
          <p:cNvSpPr/>
          <p:nvPr/>
        </p:nvSpPr>
        <p:spPr>
          <a:xfrm>
            <a:off x="5623350" y="3202100"/>
            <a:ext cx="1285800" cy="211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40"/>
          <p:cNvSpPr/>
          <p:nvPr/>
        </p:nvSpPr>
        <p:spPr>
          <a:xfrm>
            <a:off x="1972963" y="3145625"/>
            <a:ext cx="266700" cy="356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40"/>
          <p:cNvSpPr/>
          <p:nvPr/>
        </p:nvSpPr>
        <p:spPr>
          <a:xfrm>
            <a:off x="883150" y="2465850"/>
            <a:ext cx="1070700" cy="1680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40"/>
          <p:cNvSpPr/>
          <p:nvPr/>
        </p:nvSpPr>
        <p:spPr>
          <a:xfrm rot="5266506">
            <a:off x="1135254" y="621773"/>
            <a:ext cx="1777340" cy="1860505"/>
          </a:xfrm>
          <a:prstGeom prst="pie">
            <a:avLst>
              <a:gd fmla="val 0" name="adj1"/>
              <a:gd fmla="val 16200000" name="adj2"/>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40"/>
          <p:cNvSpPr/>
          <p:nvPr/>
        </p:nvSpPr>
        <p:spPr>
          <a:xfrm rot="-6113080">
            <a:off x="2025762" y="2638187"/>
            <a:ext cx="1777196" cy="1860630"/>
          </a:xfrm>
          <a:prstGeom prst="pie">
            <a:avLst>
              <a:gd fmla="val 0" name="adj1"/>
              <a:gd fmla="val 16200000" name="adj2"/>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40"/>
          <p:cNvSpPr/>
          <p:nvPr/>
        </p:nvSpPr>
        <p:spPr>
          <a:xfrm>
            <a:off x="5623350" y="3790125"/>
            <a:ext cx="1149900" cy="1467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40"/>
          <p:cNvSpPr/>
          <p:nvPr/>
        </p:nvSpPr>
        <p:spPr>
          <a:xfrm>
            <a:off x="5623350" y="3413900"/>
            <a:ext cx="1149900" cy="1467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1"/>
          <p:cNvSpPr txBox="1"/>
          <p:nvPr>
            <p:ph idx="1" type="body"/>
          </p:nvPr>
        </p:nvSpPr>
        <p:spPr>
          <a:xfrm>
            <a:off x="224423" y="778100"/>
            <a:ext cx="5069700" cy="13716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Dependency chains can be complex</a:t>
            </a:r>
            <a:endParaRPr sz="2000"/>
          </a:p>
          <a:p>
            <a:pPr indent="-355600" lvl="0" marL="457200" rtl="0" algn="l">
              <a:spcBef>
                <a:spcPts val="0"/>
              </a:spcBef>
              <a:spcAft>
                <a:spcPts val="0"/>
              </a:spcAft>
              <a:buSzPts val="2000"/>
              <a:buChar char="•"/>
            </a:pPr>
            <a:r>
              <a:rPr lang="en" sz="2000"/>
              <a:t>In theory, this should function the same</a:t>
            </a:r>
            <a:endParaRPr sz="2000"/>
          </a:p>
          <a:p>
            <a:pPr indent="-355600" lvl="0" marL="457200" rtl="0" algn="l">
              <a:spcBef>
                <a:spcPts val="0"/>
              </a:spcBef>
              <a:spcAft>
                <a:spcPts val="0"/>
              </a:spcAft>
              <a:buSzPts val="2000"/>
              <a:buChar char="•"/>
            </a:pPr>
            <a:r>
              <a:rPr lang="en" sz="2000"/>
              <a:t>In practice, there is more to consider</a:t>
            </a:r>
            <a:endParaRPr sz="2000"/>
          </a:p>
          <a:p>
            <a:pPr indent="-355600" lvl="1" marL="914400" rtl="0" algn="l">
              <a:spcBef>
                <a:spcPts val="0"/>
              </a:spcBef>
              <a:spcAft>
                <a:spcPts val="0"/>
              </a:spcAft>
              <a:buSzPts val="2000"/>
              <a:buChar char="▪"/>
            </a:pPr>
            <a:r>
              <a:rPr lang="en" sz="2000"/>
              <a:t>Linked code from #includes</a:t>
            </a:r>
            <a:endParaRPr sz="2000"/>
          </a:p>
          <a:p>
            <a:pPr indent="-355600" lvl="1" marL="914400" rtl="0" algn="l">
              <a:spcBef>
                <a:spcPts val="0"/>
              </a:spcBef>
              <a:spcAft>
                <a:spcPts val="0"/>
              </a:spcAft>
              <a:buSzPts val="2000"/>
              <a:buChar char="▪"/>
            </a:pPr>
            <a:r>
              <a:rPr lang="en" sz="2000"/>
              <a:t>LLVM has a separate linker, we have not explored that far</a:t>
            </a:r>
            <a:endParaRPr sz="2000"/>
          </a:p>
          <a:p>
            <a:pPr indent="-355600" lvl="1" marL="914400" rtl="0" algn="l">
              <a:spcBef>
                <a:spcPts val="0"/>
              </a:spcBef>
              <a:spcAft>
                <a:spcPts val="0"/>
              </a:spcAft>
              <a:buSzPts val="2000"/>
              <a:buChar char="▪"/>
            </a:pPr>
            <a:r>
              <a:rPr lang="en" sz="2000"/>
              <a:t>Statically linked code is inside the executable</a:t>
            </a:r>
            <a:endParaRPr sz="2000"/>
          </a:p>
          <a:p>
            <a:pPr indent="-355600" lvl="1" marL="914400" rtl="0" algn="l">
              <a:spcBef>
                <a:spcPts val="0"/>
              </a:spcBef>
              <a:spcAft>
                <a:spcPts val="0"/>
              </a:spcAft>
              <a:buSzPts val="2000"/>
              <a:buChar char="▪"/>
            </a:pPr>
            <a:r>
              <a:rPr lang="en" sz="2000"/>
              <a:t>Dynamically linked code is not</a:t>
            </a:r>
            <a:endParaRPr sz="2000"/>
          </a:p>
          <a:p>
            <a:pPr indent="-355600" lvl="0" marL="457200" rtl="0" algn="l">
              <a:spcBef>
                <a:spcPts val="0"/>
              </a:spcBef>
              <a:spcAft>
                <a:spcPts val="0"/>
              </a:spcAft>
              <a:buSzPts val="2000"/>
              <a:buChar char="•"/>
            </a:pPr>
            <a:r>
              <a:rPr lang="en" sz="2000"/>
              <a:t>Despite this, as long as call semantics are identical, the problem structure is the same</a:t>
            </a:r>
            <a:endParaRPr sz="2000"/>
          </a:p>
        </p:txBody>
      </p:sp>
      <p:sp>
        <p:nvSpPr>
          <p:cNvPr id="271" name="Google Shape;271;p41"/>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Multiple Files</a:t>
            </a:r>
            <a:endParaRPr/>
          </a:p>
        </p:txBody>
      </p:sp>
      <p:pic>
        <p:nvPicPr>
          <p:cNvPr id="272" name="Google Shape;272;p41"/>
          <p:cNvPicPr preferRelativeResize="0"/>
          <p:nvPr/>
        </p:nvPicPr>
        <p:blipFill>
          <a:blip r:embed="rId3">
            <a:alphaModFix/>
          </a:blip>
          <a:stretch>
            <a:fillRect/>
          </a:stretch>
        </p:blipFill>
        <p:spPr>
          <a:xfrm>
            <a:off x="5294123" y="865034"/>
            <a:ext cx="3545077" cy="341345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2"/>
          <p:cNvSpPr txBox="1"/>
          <p:nvPr>
            <p:ph idx="1" type="body"/>
          </p:nvPr>
        </p:nvSpPr>
        <p:spPr>
          <a:xfrm>
            <a:off x="224425" y="778100"/>
            <a:ext cx="8577300" cy="38364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Found 2 datasets to train on -&gt; both </a:t>
            </a:r>
            <a:r>
              <a:rPr lang="en" sz="2000"/>
              <a:t>unsuitable</a:t>
            </a:r>
            <a:r>
              <a:rPr lang="en" sz="2000"/>
              <a:t> </a:t>
            </a:r>
            <a:endParaRPr sz="2000"/>
          </a:p>
          <a:p>
            <a:pPr indent="-355600" lvl="1" marL="914400" rtl="0" algn="l">
              <a:spcBef>
                <a:spcPts val="0"/>
              </a:spcBef>
              <a:spcAft>
                <a:spcPts val="0"/>
              </a:spcAft>
              <a:buSzPts val="2000"/>
              <a:buChar char="▪"/>
            </a:pPr>
            <a:r>
              <a:rPr lang="en" sz="2000"/>
              <a:t>DIMACS / COLOR Graph Datasets </a:t>
            </a:r>
            <a:endParaRPr sz="2000"/>
          </a:p>
          <a:p>
            <a:pPr indent="-355600" lvl="2" marL="1371600" rtl="0" algn="l">
              <a:spcBef>
                <a:spcPts val="0"/>
              </a:spcBef>
              <a:spcAft>
                <a:spcPts val="0"/>
              </a:spcAft>
              <a:buSzPts val="2000"/>
              <a:buChar char="−"/>
            </a:pPr>
            <a:r>
              <a:rPr lang="en" sz="2000"/>
              <a:t>Not interference graphs </a:t>
            </a:r>
            <a:endParaRPr sz="2000"/>
          </a:p>
          <a:p>
            <a:pPr indent="-355600" lvl="1" marL="914400" rtl="0" algn="l">
              <a:spcBef>
                <a:spcPts val="0"/>
              </a:spcBef>
              <a:spcAft>
                <a:spcPts val="0"/>
              </a:spcAft>
              <a:buSzPts val="2000"/>
              <a:buChar char="▪"/>
            </a:pPr>
            <a:r>
              <a:rPr lang="en" sz="2000"/>
              <a:t>IEEE</a:t>
            </a:r>
            <a:endParaRPr sz="2000"/>
          </a:p>
          <a:p>
            <a:pPr indent="-355600" lvl="2" marL="1371600" rtl="0" algn="l">
              <a:spcBef>
                <a:spcPts val="0"/>
              </a:spcBef>
              <a:spcAft>
                <a:spcPts val="0"/>
              </a:spcAft>
              <a:buSzPts val="2000"/>
              <a:buChar char="−"/>
            </a:pPr>
            <a:r>
              <a:rPr lang="en" sz="2000"/>
              <a:t>Linear scan of the output IR file rather than actually examining the code dependency structure</a:t>
            </a:r>
            <a:endParaRPr sz="2000"/>
          </a:p>
          <a:p>
            <a:pPr indent="-355600" lvl="2" marL="1371600" rtl="0" algn="l">
              <a:spcBef>
                <a:spcPts val="0"/>
              </a:spcBef>
              <a:spcAft>
                <a:spcPts val="0"/>
              </a:spcAft>
              <a:buSzPts val="2000"/>
              <a:buChar char="−"/>
            </a:pPr>
            <a:r>
              <a:rPr lang="en" sz="2000"/>
              <a:t>Very simplistic </a:t>
            </a:r>
            <a:r>
              <a:rPr lang="en" sz="2000"/>
              <a:t>liveliness algo</a:t>
            </a:r>
            <a:endParaRPr sz="2000"/>
          </a:p>
          <a:p>
            <a:pPr indent="-355600" lvl="3" marL="1828800" rtl="0" algn="l">
              <a:spcBef>
                <a:spcPts val="0"/>
              </a:spcBef>
              <a:spcAft>
                <a:spcPts val="0"/>
              </a:spcAft>
              <a:buSzPts val="2000"/>
              <a:buChar char="–"/>
            </a:pPr>
            <a:r>
              <a:rPr lang="en"/>
              <a:t>live range = [first_line_mentioned, last_line_mentioned]</a:t>
            </a:r>
            <a:endParaRPr/>
          </a:p>
          <a:p>
            <a:pPr indent="0" lvl="0" marL="0" rtl="0" algn="l">
              <a:spcBef>
                <a:spcPts val="640"/>
              </a:spcBef>
              <a:spcAft>
                <a:spcPts val="0"/>
              </a:spcAft>
              <a:buNone/>
            </a:pPr>
            <a:r>
              <a:t/>
            </a:r>
            <a:endParaRPr/>
          </a:p>
          <a:p>
            <a:pPr indent="-355600" lvl="0" marL="457200" rtl="0" algn="l">
              <a:spcBef>
                <a:spcPts val="640"/>
              </a:spcBef>
              <a:spcAft>
                <a:spcPts val="0"/>
              </a:spcAft>
              <a:buSzPts val="2000"/>
              <a:buChar char="•"/>
            </a:pPr>
            <a:r>
              <a:rPr lang="en" sz="2000"/>
              <a:t>Our work seeks to alleviate both of these shortcomings</a:t>
            </a:r>
            <a:endParaRPr sz="2000"/>
          </a:p>
          <a:p>
            <a:pPr indent="-355600" lvl="0" marL="457200" rtl="0" algn="l">
              <a:spcBef>
                <a:spcPts val="0"/>
              </a:spcBef>
              <a:spcAft>
                <a:spcPts val="0"/>
              </a:spcAft>
              <a:buSzPts val="2000"/>
              <a:buChar char="•"/>
            </a:pPr>
            <a:r>
              <a:rPr lang="en" sz="2000"/>
              <a:t>As far as we know, this work is new and novel</a:t>
            </a:r>
            <a:endParaRPr sz="2000"/>
          </a:p>
        </p:txBody>
      </p:sp>
      <p:sp>
        <p:nvSpPr>
          <p:cNvPr id="278" name="Google Shape;278;p42"/>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Comparison to Prior Work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3"/>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Dataset</a:t>
            </a:r>
            <a:endParaRPr/>
          </a:p>
        </p:txBody>
      </p:sp>
      <p:pic>
        <p:nvPicPr>
          <p:cNvPr id="284" name="Google Shape;284;p43" title="Airbrush-Image-Enhancer-1761189040016.jpg"/>
          <p:cNvPicPr preferRelativeResize="0"/>
          <p:nvPr/>
        </p:nvPicPr>
        <p:blipFill rotWithShape="1">
          <a:blip r:embed="rId3">
            <a:alphaModFix/>
          </a:blip>
          <a:srcRect b="49520" l="0" r="0" t="0"/>
          <a:stretch/>
        </p:blipFill>
        <p:spPr>
          <a:xfrm>
            <a:off x="926325" y="2571749"/>
            <a:ext cx="7291351" cy="1644429"/>
          </a:xfrm>
          <a:prstGeom prst="rect">
            <a:avLst/>
          </a:prstGeom>
          <a:noFill/>
          <a:ln>
            <a:noFill/>
          </a:ln>
        </p:spPr>
      </p:pic>
      <p:sp>
        <p:nvSpPr>
          <p:cNvPr id="285" name="Google Shape;285;p43"/>
          <p:cNvSpPr txBox="1"/>
          <p:nvPr>
            <p:ph idx="1" type="body"/>
          </p:nvPr>
        </p:nvSpPr>
        <p:spPr>
          <a:xfrm>
            <a:off x="0" y="596800"/>
            <a:ext cx="9144000" cy="15576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Poor datasets -&gt; need to pivot </a:t>
            </a:r>
            <a:endParaRPr sz="2000"/>
          </a:p>
          <a:p>
            <a:pPr indent="-355600" lvl="1" marL="914400" rtl="0" algn="l">
              <a:spcBef>
                <a:spcPts val="0"/>
              </a:spcBef>
              <a:spcAft>
                <a:spcPts val="0"/>
              </a:spcAft>
              <a:buSzPts val="2000"/>
              <a:buChar char="▪"/>
            </a:pPr>
            <a:r>
              <a:rPr lang="en" sz="2000"/>
              <a:t>We bit off more than we can chew </a:t>
            </a:r>
            <a:endParaRPr sz="2000"/>
          </a:p>
          <a:p>
            <a:pPr indent="-355600" lvl="1" marL="914400" rtl="0" algn="l">
              <a:spcBef>
                <a:spcPts val="0"/>
              </a:spcBef>
              <a:spcAft>
                <a:spcPts val="0"/>
              </a:spcAft>
              <a:buSzPts val="2000"/>
              <a:buChar char="▪"/>
            </a:pPr>
            <a:r>
              <a:rPr lang="en" sz="2000"/>
              <a:t>Will focus on the “top” part of our previous chart</a:t>
            </a:r>
            <a:endParaRPr sz="2000"/>
          </a:p>
          <a:p>
            <a:pPr indent="-355600" lvl="2" marL="1371600" rtl="0" algn="l">
              <a:spcBef>
                <a:spcPts val="0"/>
              </a:spcBef>
              <a:spcAft>
                <a:spcPts val="0"/>
              </a:spcAft>
              <a:buSzPts val="2000"/>
              <a:buChar char="−"/>
            </a:pPr>
            <a:r>
              <a:rPr lang="en" sz="2000"/>
              <a:t>New objective -&gt; produce a </a:t>
            </a:r>
            <a:r>
              <a:rPr lang="en" sz="2000"/>
              <a:t>dataset better than what we found for use by researchers later</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Prelim Results</a:t>
            </a:r>
            <a:endParaRPr/>
          </a:p>
        </p:txBody>
      </p:sp>
      <p:pic>
        <p:nvPicPr>
          <p:cNvPr id="291" name="Google Shape;291;p44"/>
          <p:cNvPicPr preferRelativeResize="0"/>
          <p:nvPr/>
        </p:nvPicPr>
        <p:blipFill>
          <a:blip r:embed="rId3">
            <a:alphaModFix/>
          </a:blip>
          <a:stretch>
            <a:fillRect/>
          </a:stretch>
        </p:blipFill>
        <p:spPr>
          <a:xfrm>
            <a:off x="1951600" y="667950"/>
            <a:ext cx="5240799" cy="4056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5"/>
          <p:cNvSpPr txBox="1"/>
          <p:nvPr>
            <p:ph idx="1" type="body"/>
          </p:nvPr>
        </p:nvSpPr>
        <p:spPr>
          <a:xfrm>
            <a:off x="409650" y="697175"/>
            <a:ext cx="8324700" cy="3643800"/>
          </a:xfrm>
          <a:prstGeom prst="rect">
            <a:avLst/>
          </a:prstGeom>
        </p:spPr>
        <p:txBody>
          <a:bodyPr anchorCtr="0" anchor="t" bIns="45700" lIns="91425" spcFirstLastPara="1" rIns="91425" wrap="square" tIns="45700">
            <a:noAutofit/>
          </a:bodyPr>
          <a:lstStyle/>
          <a:p>
            <a:pPr indent="-355600" lvl="0" marL="457200" rtl="0" algn="l">
              <a:spcBef>
                <a:spcPts val="640"/>
              </a:spcBef>
              <a:spcAft>
                <a:spcPts val="0"/>
              </a:spcAft>
              <a:buSzPts val="2000"/>
              <a:buChar char="•"/>
            </a:pPr>
            <a:r>
              <a:rPr lang="en" sz="2000"/>
              <a:t>Current goals:</a:t>
            </a:r>
            <a:endParaRPr sz="2000"/>
          </a:p>
          <a:p>
            <a:pPr indent="-355600" lvl="1" marL="914400" rtl="0" algn="l">
              <a:spcBef>
                <a:spcPts val="0"/>
              </a:spcBef>
              <a:spcAft>
                <a:spcPts val="0"/>
              </a:spcAft>
              <a:buSzPts val="2000"/>
              <a:buChar char="▪"/>
            </a:pPr>
            <a:r>
              <a:rPr lang="en" sz="2000"/>
              <a:t>Debug and test current code</a:t>
            </a:r>
            <a:endParaRPr sz="2000"/>
          </a:p>
          <a:p>
            <a:pPr indent="-355600" lvl="1" marL="914400" rtl="0" algn="l">
              <a:spcBef>
                <a:spcPts val="0"/>
              </a:spcBef>
              <a:spcAft>
                <a:spcPts val="0"/>
              </a:spcAft>
              <a:buSzPts val="2000"/>
              <a:buChar char="▪"/>
            </a:pPr>
            <a:r>
              <a:rPr lang="en" sz="2000"/>
              <a:t>Finish</a:t>
            </a:r>
            <a:r>
              <a:rPr lang="en" sz="2000"/>
              <a:t> automation script </a:t>
            </a:r>
            <a:endParaRPr sz="2000"/>
          </a:p>
          <a:p>
            <a:pPr indent="-355600" lvl="0" marL="457200" rtl="0" algn="l">
              <a:spcBef>
                <a:spcPts val="0"/>
              </a:spcBef>
              <a:spcAft>
                <a:spcPts val="0"/>
              </a:spcAft>
              <a:buSzPts val="2000"/>
              <a:buChar char="•"/>
            </a:pPr>
            <a:r>
              <a:rPr lang="en" sz="2000"/>
              <a:t>Stretch</a:t>
            </a:r>
            <a:r>
              <a:rPr lang="en" sz="2000"/>
              <a:t> goals:</a:t>
            </a:r>
            <a:endParaRPr sz="2000"/>
          </a:p>
          <a:p>
            <a:pPr indent="-355600" lvl="0" marL="914400" rtl="0" algn="l">
              <a:spcBef>
                <a:spcPts val="0"/>
              </a:spcBef>
              <a:spcAft>
                <a:spcPts val="0"/>
              </a:spcAft>
              <a:buSzPts val="2000"/>
              <a:buChar char="•"/>
            </a:pPr>
            <a:r>
              <a:rPr lang="en" sz="2000"/>
              <a:t>Create a NN model and use the dataset generated to train it</a:t>
            </a:r>
            <a:endParaRPr sz="2000"/>
          </a:p>
          <a:p>
            <a:pPr indent="-355600" lvl="0" marL="914400" rtl="0" algn="l">
              <a:spcBef>
                <a:spcPts val="0"/>
              </a:spcBef>
              <a:spcAft>
                <a:spcPts val="0"/>
              </a:spcAft>
              <a:buSzPts val="2000"/>
              <a:buChar char="•"/>
            </a:pPr>
            <a:r>
              <a:rPr lang="en" sz="2000"/>
              <a:t>Generate canonical interference subgraph colorings for library functions for efficient coloring</a:t>
            </a:r>
            <a:endParaRPr sz="2000"/>
          </a:p>
          <a:p>
            <a:pPr indent="-355600" lvl="0" marL="914400" rtl="0" algn="l">
              <a:spcBef>
                <a:spcPts val="0"/>
              </a:spcBef>
              <a:spcAft>
                <a:spcPts val="0"/>
              </a:spcAft>
              <a:buSzPts val="2000"/>
              <a:buChar char="•"/>
            </a:pPr>
            <a:r>
              <a:rPr lang="en" sz="2000"/>
              <a:t>Examine calling convention semantics, special cases for volatile registers</a:t>
            </a:r>
            <a:endParaRPr sz="2000"/>
          </a:p>
        </p:txBody>
      </p:sp>
      <p:sp>
        <p:nvSpPr>
          <p:cNvPr id="297" name="Google Shape;297;p45"/>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rPr lang="en"/>
              <a:t>Future Work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6"/>
          <p:cNvSpPr txBox="1"/>
          <p:nvPr>
            <p:ph idx="1" type="body"/>
          </p:nvPr>
        </p:nvSpPr>
        <p:spPr>
          <a:xfrm>
            <a:off x="2806075" y="1056750"/>
            <a:ext cx="3161400" cy="30300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rPr lang="en"/>
              <a:t>Thank You</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
              <a:t>Any Questions</a:t>
            </a:r>
            <a:endParaRPr/>
          </a:p>
        </p:txBody>
      </p:sp>
      <p:sp>
        <p:nvSpPr>
          <p:cNvPr id="303" name="Google Shape;303;p46"/>
          <p:cNvSpPr txBox="1"/>
          <p:nvPr>
            <p:ph idx="2" type="body"/>
          </p:nvPr>
        </p:nvSpPr>
        <p:spPr>
          <a:xfrm>
            <a:off x="224416" y="202609"/>
            <a:ext cx="8324700" cy="394200"/>
          </a:xfrm>
          <a:prstGeom prst="rect">
            <a:avLst/>
          </a:prstGeom>
        </p:spPr>
        <p:txBody>
          <a:bodyPr anchorCtr="0" anchor="t" bIns="45700" lIns="91425" spcFirstLastPara="1" rIns="91425" wrap="square" tIns="45700">
            <a:noAutofit/>
          </a:bodyPr>
          <a:lstStyle/>
          <a:p>
            <a:pPr indent="0" lvl="0" marL="0" rtl="0" algn="l">
              <a:spcBef>
                <a:spcPts val="360"/>
              </a:spcBef>
              <a:spcAft>
                <a:spcPts val="18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2015TemplateColors">
      <a:dk1>
        <a:srgbClr val="000000"/>
      </a:dk1>
      <a:lt1>
        <a:srgbClr val="FFFFFF"/>
      </a:lt1>
      <a:dk2>
        <a:srgbClr val="323232"/>
      </a:dk2>
      <a:lt2>
        <a:srgbClr val="EEECE1"/>
      </a:lt2>
      <a:accent1>
        <a:srgbClr val="D00016"/>
      </a:accent1>
      <a:accent2>
        <a:srgbClr val="32323C"/>
      </a:accent2>
      <a:accent3>
        <a:srgbClr val="B9B5AD"/>
      </a:accent3>
      <a:accent4>
        <a:srgbClr val="325A9C"/>
      </a:accent4>
      <a:accent5>
        <a:srgbClr val="EFE793"/>
      </a:accent5>
      <a:accent6>
        <a:srgbClr val="2F3C6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